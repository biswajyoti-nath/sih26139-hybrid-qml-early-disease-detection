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6858000" cx="12192000"/>
  <p:notesSz cx="6858000" cy="9144000"/>
  <p:embeddedFontLst>
    <p:embeddedFont>
      <p:font typeface="Garamond"/>
      <p:bold r:id="rId13"/>
      <p:boldItalic r:id="rId14"/>
    </p:embeddedFont>
    <p:embeddedFont>
      <p:font typeface="Inter"/>
      <p:regular r:id="rId15"/>
      <p:bold r:id="rId16"/>
      <p:italic r:id="rId17"/>
      <p:boldItalic r:id="rId18"/>
    </p:embeddedFont>
    <p:embeddedFont>
      <p:font typeface="Inter ExtraBold"/>
      <p:bold r:id="rId19"/>
      <p:boldItalic r:id="rId20"/>
    </p:embeddedFont>
    <p:embeddedFont>
      <p:font typeface="Oswald"/>
      <p:regular r:id="rId21"/>
      <p:bold r:id="rId22"/>
    </p:embeddedFont>
    <p:embeddedFont>
      <p:font typeface="Inter Medium"/>
      <p:regular r:id="rId23"/>
      <p:bold r:id="rId24"/>
      <p:italic r:id="rId25"/>
      <p:boldItalic r:id="rId26"/>
    </p:embeddedFont>
    <p:embeddedFont>
      <p:font typeface="Inter Black"/>
      <p:bold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FC6F34A-E3B0-479E-869C-F4F3ACA2B9DC}">
  <a:tblStyle styleId="{5FC6F34A-E3B0-479E-869C-F4F3ACA2B9D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ExtraBold-boldItalic.fntdata"/><Relationship Id="rId22" Type="http://schemas.openxmlformats.org/officeDocument/2006/relationships/font" Target="fonts/Oswald-bold.fntdata"/><Relationship Id="rId21" Type="http://schemas.openxmlformats.org/officeDocument/2006/relationships/font" Target="fonts/Oswald-regular.fntdata"/><Relationship Id="rId24" Type="http://schemas.openxmlformats.org/officeDocument/2006/relationships/font" Target="fonts/InterMedium-bold.fntdata"/><Relationship Id="rId23" Type="http://schemas.openxmlformats.org/officeDocument/2006/relationships/font" Target="fonts/Inter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Medium-boldItalic.fntdata"/><Relationship Id="rId25" Type="http://schemas.openxmlformats.org/officeDocument/2006/relationships/font" Target="fonts/InterMedium-italic.fntdata"/><Relationship Id="rId28" Type="http://schemas.openxmlformats.org/officeDocument/2006/relationships/font" Target="fonts/InterBlack-boldItalic.fntdata"/><Relationship Id="rId27" Type="http://schemas.openxmlformats.org/officeDocument/2006/relationships/font" Target="fonts/InterBlack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Garamond-bold.fntdata"/><Relationship Id="rId12" Type="http://schemas.openxmlformats.org/officeDocument/2006/relationships/slide" Target="slides/slide6.xml"/><Relationship Id="rId15" Type="http://schemas.openxmlformats.org/officeDocument/2006/relationships/font" Target="fonts/Inter-regular.fntdata"/><Relationship Id="rId14" Type="http://schemas.openxmlformats.org/officeDocument/2006/relationships/font" Target="fonts/Garamond-boldItalic.fntdata"/><Relationship Id="rId17" Type="http://schemas.openxmlformats.org/officeDocument/2006/relationships/font" Target="fonts/Inter-italic.fntdata"/><Relationship Id="rId16" Type="http://schemas.openxmlformats.org/officeDocument/2006/relationships/font" Target="fonts/Inter-bold.fntdata"/><Relationship Id="rId19" Type="http://schemas.openxmlformats.org/officeDocument/2006/relationships/font" Target="fonts/InterExtraBold-bold.fntdata"/><Relationship Id="rId18" Type="http://schemas.openxmlformats.org/officeDocument/2006/relationships/font" Target="fonts/Inter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a3904ec95_0_8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3" name="Google Shape;63;g3fa3904ec95_0_8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fa3904ec95_0_87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59" name="Google Shape;15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96" name="Google Shape;19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a34756061_19_0)">
  <p:cSld name="Generated (g3fa34756061_19_0)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6473748" y="1285871"/>
            <a:ext cx="4654067" cy="5154967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EAEA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 txBox="1"/>
          <p:nvPr>
            <p:ph type="ctrTitle"/>
          </p:nvPr>
        </p:nvSpPr>
        <p:spPr>
          <a:xfrm>
            <a:off x="323850" y="381000"/>
            <a:ext cx="115443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450"/>
              </a:spcAft>
              <a:buNone/>
            </a:pPr>
            <a:r>
              <a:rPr b="1" lang="en-US" sz="3515">
                <a:solidFill>
                  <a:srgbClr val="1F497D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b="1" sz="3515">
              <a:solidFill>
                <a:srgbClr val="1F497D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grpSp>
        <p:nvGrpSpPr>
          <p:cNvPr id="35" name="Google Shape;35;p5"/>
          <p:cNvGrpSpPr/>
          <p:nvPr/>
        </p:nvGrpSpPr>
        <p:grpSpPr>
          <a:xfrm>
            <a:off x="762000" y="1428750"/>
            <a:ext cx="1238400" cy="400200"/>
            <a:chOff x="0" y="0"/>
            <a:chExt cx="1238400" cy="400200"/>
          </a:xfrm>
        </p:grpSpPr>
        <p:sp>
          <p:nvSpPr>
            <p:cNvPr id="36" name="Google Shape;36;p5"/>
            <p:cNvSpPr/>
            <p:nvPr/>
          </p:nvSpPr>
          <p:spPr>
            <a:xfrm>
              <a:off x="0" y="0"/>
              <a:ext cx="1238400" cy="400200"/>
            </a:xfrm>
            <a:prstGeom prst="roundRect">
              <a:avLst>
                <a:gd fmla="val 14284" name="adj"/>
              </a:avLst>
            </a:prstGeom>
            <a:solidFill>
              <a:srgbClr val="1F497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5"/>
            <p:cNvSpPr txBox="1"/>
            <p:nvPr/>
          </p:nvSpPr>
          <p:spPr>
            <a:xfrm>
              <a:off x="0" y="0"/>
              <a:ext cx="1238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SIH26139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" name="Google Shape;38;p5"/>
          <p:cNvGrpSpPr/>
          <p:nvPr/>
        </p:nvGrpSpPr>
        <p:grpSpPr>
          <a:xfrm>
            <a:off x="2190750" y="1333500"/>
            <a:ext cx="4953000" cy="857400"/>
            <a:chOff x="0" y="0"/>
            <a:chExt cx="4953000" cy="857400"/>
          </a:xfrm>
        </p:grpSpPr>
        <p:sp>
          <p:nvSpPr>
            <p:cNvPr id="39" name="Google Shape;39;p5"/>
            <p:cNvSpPr/>
            <p:nvPr/>
          </p:nvSpPr>
          <p:spPr>
            <a:xfrm>
              <a:off x="0" y="0"/>
              <a:ext cx="49530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5"/>
            <p:cNvSpPr txBox="1"/>
            <p:nvPr/>
          </p:nvSpPr>
          <p:spPr>
            <a:xfrm>
              <a:off x="0" y="0"/>
              <a:ext cx="4953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1" lang="en-US" sz="187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HYBRID QUANTUM MACHINE LEARNING PLATFORM FOR EARLY DISEASE DETECTION</a:t>
              </a:r>
              <a:endParaRPr b="1" sz="187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" name="Google Shape;41;p5"/>
          <p:cNvGrpSpPr/>
          <p:nvPr/>
        </p:nvGrpSpPr>
        <p:grpSpPr>
          <a:xfrm>
            <a:off x="762000" y="2476500"/>
            <a:ext cx="5143500" cy="304800"/>
            <a:chOff x="0" y="0"/>
            <a:chExt cx="5143500" cy="304800"/>
          </a:xfrm>
        </p:grpSpPr>
        <p:sp>
          <p:nvSpPr>
            <p:cNvPr id="42" name="Google Shape;42;p5"/>
            <p:cNvSpPr txBox="1"/>
            <p:nvPr/>
          </p:nvSpPr>
          <p:spPr>
            <a:xfrm>
              <a:off x="0" y="0"/>
              <a:ext cx="1238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1" lang="en-US" sz="1190">
                  <a:solidFill>
                    <a:srgbClr val="1F497D"/>
                  </a:solidFill>
                  <a:latin typeface="Arial"/>
                  <a:ea typeface="Arial"/>
                  <a:cs typeface="Arial"/>
                  <a:sym typeface="Arial"/>
                </a:rPr>
                <a:t>Theme:</a:t>
              </a:r>
              <a:endParaRPr b="1" sz="119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5"/>
            <p:cNvSpPr txBox="1"/>
            <p:nvPr/>
          </p:nvSpPr>
          <p:spPr>
            <a:xfrm>
              <a:off x="1333500" y="0"/>
              <a:ext cx="3810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1" lang="en-US" sz="1190">
                  <a:solidFill>
                    <a:srgbClr val="1F497D"/>
                  </a:solidFill>
                  <a:latin typeface="Arial"/>
                  <a:ea typeface="Arial"/>
                  <a:cs typeface="Arial"/>
                  <a:sym typeface="Arial"/>
                </a:rPr>
                <a:t>MedTech / BioTech / HealthTech</a:t>
              </a:r>
              <a:endParaRPr b="1" sz="119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" name="Google Shape;44;p5"/>
          <p:cNvGrpSpPr/>
          <p:nvPr/>
        </p:nvGrpSpPr>
        <p:grpSpPr>
          <a:xfrm>
            <a:off x="762000" y="2857500"/>
            <a:ext cx="5143500" cy="304800"/>
            <a:chOff x="0" y="0"/>
            <a:chExt cx="5143500" cy="304800"/>
          </a:xfrm>
        </p:grpSpPr>
        <p:sp>
          <p:nvSpPr>
            <p:cNvPr id="45" name="Google Shape;45;p5"/>
            <p:cNvSpPr txBox="1"/>
            <p:nvPr/>
          </p:nvSpPr>
          <p:spPr>
            <a:xfrm>
              <a:off x="0" y="0"/>
              <a:ext cx="1238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1" lang="en-US" sz="1190">
                  <a:solidFill>
                    <a:srgbClr val="1F497D"/>
                  </a:solidFill>
                  <a:latin typeface="Arial"/>
                  <a:ea typeface="Arial"/>
                  <a:cs typeface="Arial"/>
                  <a:sym typeface="Arial"/>
                </a:rPr>
                <a:t>Category:</a:t>
              </a:r>
              <a:endParaRPr b="1" sz="119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5"/>
            <p:cNvSpPr txBox="1"/>
            <p:nvPr/>
          </p:nvSpPr>
          <p:spPr>
            <a:xfrm>
              <a:off x="1333500" y="0"/>
              <a:ext cx="3810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0" lang="en-US" sz="119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Software</a:t>
              </a:r>
              <a:endParaRPr b="0" sz="119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" name="Google Shape;47;p5"/>
          <p:cNvGrpSpPr/>
          <p:nvPr/>
        </p:nvGrpSpPr>
        <p:grpSpPr>
          <a:xfrm>
            <a:off x="762000" y="3238500"/>
            <a:ext cx="5143500" cy="304800"/>
            <a:chOff x="0" y="0"/>
            <a:chExt cx="5143500" cy="304800"/>
          </a:xfrm>
        </p:grpSpPr>
        <p:sp>
          <p:nvSpPr>
            <p:cNvPr id="48" name="Google Shape;48;p5"/>
            <p:cNvSpPr txBox="1"/>
            <p:nvPr/>
          </p:nvSpPr>
          <p:spPr>
            <a:xfrm>
              <a:off x="0" y="0"/>
              <a:ext cx="1238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1" lang="en-US" sz="1190">
                  <a:solidFill>
                    <a:srgbClr val="1F497D"/>
                  </a:solidFill>
                  <a:latin typeface="Arial"/>
                  <a:ea typeface="Arial"/>
                  <a:cs typeface="Arial"/>
                  <a:sym typeface="Arial"/>
                </a:rPr>
                <a:t>Team ID:</a:t>
              </a:r>
              <a:endParaRPr b="1" sz="119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5"/>
            <p:cNvSpPr txBox="1"/>
            <p:nvPr/>
          </p:nvSpPr>
          <p:spPr>
            <a:xfrm>
              <a:off x="1333500" y="0"/>
              <a:ext cx="3810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t/>
              </a:r>
              <a:endParaRPr b="0" sz="119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" name="Google Shape;50;p5"/>
          <p:cNvGrpSpPr/>
          <p:nvPr/>
        </p:nvGrpSpPr>
        <p:grpSpPr>
          <a:xfrm>
            <a:off x="762000" y="3619500"/>
            <a:ext cx="5143500" cy="304800"/>
            <a:chOff x="0" y="0"/>
            <a:chExt cx="5143500" cy="304800"/>
          </a:xfrm>
        </p:grpSpPr>
        <p:sp>
          <p:nvSpPr>
            <p:cNvPr id="51" name="Google Shape;51;p5"/>
            <p:cNvSpPr txBox="1"/>
            <p:nvPr/>
          </p:nvSpPr>
          <p:spPr>
            <a:xfrm>
              <a:off x="0" y="0"/>
              <a:ext cx="1238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1" lang="en-US" sz="1190">
                  <a:solidFill>
                    <a:srgbClr val="1F497D"/>
                  </a:solidFill>
                  <a:latin typeface="Arial"/>
                  <a:ea typeface="Arial"/>
                  <a:cs typeface="Arial"/>
                  <a:sym typeface="Arial"/>
                </a:rPr>
                <a:t>Team Name:</a:t>
              </a:r>
              <a:endParaRPr b="1" sz="119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5"/>
            <p:cNvSpPr txBox="1"/>
            <p:nvPr/>
          </p:nvSpPr>
          <p:spPr>
            <a:xfrm>
              <a:off x="1333500" y="0"/>
              <a:ext cx="3810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1" lang="en-US" sz="1190">
                  <a:solidFill>
                    <a:srgbClr val="1F497D"/>
                  </a:solidFill>
                  <a:latin typeface="Arial"/>
                  <a:ea typeface="Arial"/>
                  <a:cs typeface="Arial"/>
                  <a:sym typeface="Arial"/>
                </a:rPr>
                <a:t>Chai.EXE</a:t>
              </a:r>
              <a:endParaRPr b="1" sz="119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" name="Google Shape;53;p5"/>
          <p:cNvGrpSpPr/>
          <p:nvPr/>
        </p:nvGrpSpPr>
        <p:grpSpPr>
          <a:xfrm>
            <a:off x="762000" y="4000500"/>
            <a:ext cx="5619900" cy="304800"/>
            <a:chOff x="0" y="0"/>
            <a:chExt cx="5619900" cy="304800"/>
          </a:xfrm>
        </p:grpSpPr>
        <p:sp>
          <p:nvSpPr>
            <p:cNvPr id="54" name="Google Shape;54;p5"/>
            <p:cNvSpPr txBox="1"/>
            <p:nvPr/>
          </p:nvSpPr>
          <p:spPr>
            <a:xfrm>
              <a:off x="0" y="0"/>
              <a:ext cx="1238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1" lang="en-US" sz="1190">
                  <a:solidFill>
                    <a:srgbClr val="1F497D"/>
                  </a:solidFill>
                  <a:latin typeface="Arial"/>
                  <a:ea typeface="Arial"/>
                  <a:cs typeface="Arial"/>
                  <a:sym typeface="Arial"/>
                </a:rPr>
                <a:t>Institution:</a:t>
              </a:r>
              <a:endParaRPr b="1" sz="119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5"/>
            <p:cNvSpPr txBox="1"/>
            <p:nvPr/>
          </p:nvSpPr>
          <p:spPr>
            <a:xfrm>
              <a:off x="1333500" y="0"/>
              <a:ext cx="4286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0" lang="en-US" sz="119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Barak Valley Engineering College</a:t>
              </a:r>
              <a:endParaRPr b="0" sz="119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" name="Google Shape;56;p5"/>
          <p:cNvGrpSpPr/>
          <p:nvPr/>
        </p:nvGrpSpPr>
        <p:grpSpPr>
          <a:xfrm>
            <a:off x="762000" y="4381500"/>
            <a:ext cx="6572400" cy="1714500"/>
            <a:chOff x="0" y="0"/>
            <a:chExt cx="6572400" cy="1714500"/>
          </a:xfrm>
        </p:grpSpPr>
        <p:sp>
          <p:nvSpPr>
            <p:cNvPr id="57" name="Google Shape;57;p5"/>
            <p:cNvSpPr txBox="1"/>
            <p:nvPr/>
          </p:nvSpPr>
          <p:spPr>
            <a:xfrm>
              <a:off x="0" y="0"/>
              <a:ext cx="1238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1" lang="en-US" sz="1190">
                  <a:solidFill>
                    <a:srgbClr val="1F497D"/>
                  </a:solidFill>
                  <a:latin typeface="Arial"/>
                  <a:ea typeface="Arial"/>
                  <a:cs typeface="Arial"/>
                  <a:sym typeface="Arial"/>
                </a:rPr>
                <a:t>Members:</a:t>
              </a:r>
              <a:endParaRPr b="1" sz="119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5"/>
            <p:cNvSpPr txBox="1"/>
            <p:nvPr/>
          </p:nvSpPr>
          <p:spPr>
            <a:xfrm>
              <a:off x="1333500" y="0"/>
              <a:ext cx="52389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• </a:t>
              </a:r>
              <a:r>
                <a:rPr b="1" lang="en-US" sz="1200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Uddipan Kashyap</a:t>
              </a:r>
              <a:r>
                <a:rPr b="0" lang="en-US" sz="1200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 — Team Leader</a:t>
              </a:r>
              <a:endParaRPr b="0" sz="1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• Biki Kalita</a:t>
              </a:r>
              <a:endParaRPr b="0" sz="1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• Biswajyoti Nath</a:t>
              </a:r>
              <a:endParaRPr b="0" sz="1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• Bishwashree Chakraborty</a:t>
              </a:r>
              <a:endParaRPr b="0" sz="1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• Doreen Baruah</a:t>
              </a:r>
              <a:endParaRPr b="0" sz="1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lang="en-US" sz="1200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• Subinoy Nath</a:t>
              </a:r>
              <a:endParaRPr b="0" sz="1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9" name="Google Shape;59;p5"/>
          <p:cNvPicPr preferRelativeResize="0"/>
          <p:nvPr/>
        </p:nvPicPr>
        <p:blipFill rotWithShape="1">
          <a:blip r:embed="rId3">
            <a:alphaModFix/>
          </a:blip>
          <a:srcRect b="0" l="0" r="59917" t="0"/>
          <a:stretch/>
        </p:blipFill>
        <p:spPr>
          <a:xfrm>
            <a:off x="7944000" y="2526473"/>
            <a:ext cx="3041377" cy="3252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8175" y="246076"/>
            <a:ext cx="2079974" cy="10562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 txBox="1"/>
          <p:nvPr>
            <p:ph type="title"/>
          </p:nvPr>
        </p:nvSpPr>
        <p:spPr>
          <a:xfrm>
            <a:off x="1714500" y="142875"/>
            <a:ext cx="8001000" cy="85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35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HYBRID QML PLATFORM FOR EARLY DISEASE DETECTION</a:t>
            </a:r>
            <a:endParaRPr b="1" i="0" sz="2035">
              <a:solidFill>
                <a:srgbClr val="1F497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95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Evidence-Gated Classical + Quantum Learning for Biomedical Data</a:t>
            </a:r>
            <a:endParaRPr b="1" i="0" sz="1295">
              <a:solidFill>
                <a:srgbClr val="1F497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8" name="Google Shape;68;p6"/>
          <p:cNvGrpSpPr/>
          <p:nvPr/>
        </p:nvGrpSpPr>
        <p:grpSpPr>
          <a:xfrm>
            <a:off x="381000" y="1333500"/>
            <a:ext cx="3429000" cy="4857900"/>
            <a:chOff x="0" y="0"/>
            <a:chExt cx="3429000" cy="4857900"/>
          </a:xfrm>
        </p:grpSpPr>
        <p:sp>
          <p:nvSpPr>
            <p:cNvPr id="69" name="Google Shape;69;p6"/>
            <p:cNvSpPr/>
            <p:nvPr/>
          </p:nvSpPr>
          <p:spPr>
            <a:xfrm>
              <a:off x="0" y="0"/>
              <a:ext cx="3429000" cy="4857900"/>
            </a:xfrm>
            <a:prstGeom prst="roundRect">
              <a:avLst>
                <a:gd fmla="val 4444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6"/>
            <p:cNvSpPr txBox="1"/>
            <p:nvPr/>
          </p:nvSpPr>
          <p:spPr>
            <a:xfrm>
              <a:off x="228600" y="228600"/>
              <a:ext cx="2971800" cy="440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1E293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The Challenge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Biomedical datasets can be:</a:t>
              </a:r>
              <a:endParaRPr b="1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4155"/>
                </a:buClr>
                <a:buSzPts val="1000"/>
                <a:buFont typeface="Inter"/>
                <a:buChar char="●"/>
              </a:pPr>
              <a:r>
                <a:rPr lang="en-US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High-dimensional &amp; complex</a:t>
              </a:r>
              <a:endParaRPr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000"/>
                <a:buFont typeface="Inter"/>
                <a:buChar char="●"/>
              </a:pPr>
              <a:r>
                <a:rPr lang="en-US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Noisy and heterogeneous</a:t>
              </a:r>
              <a:endParaRPr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000"/>
                <a:buFont typeface="Inter"/>
                <a:buChar char="●"/>
              </a:pPr>
              <a:r>
                <a:rPr lang="en-US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Difficult to represent on near-term quantum models</a:t>
              </a:r>
              <a:endParaRPr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i="1" lang="en-US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Current QML evaluation is also computationally expensive, making brute-force quantum execution unviable.</a:t>
              </a:r>
              <a:endParaRPr i="1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1E293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Our Approach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A hybrid platform that:</a:t>
              </a:r>
              <a:endParaRPr b="1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2563EB"/>
                </a:buClr>
                <a:buSzPts val="1000"/>
                <a:buFont typeface="Inter"/>
                <a:buChar char="●"/>
              </a:pPr>
              <a:r>
                <a:rPr lang="en-US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Intelligently preprocesses medical data</a:t>
              </a:r>
              <a:endParaRPr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2563EB"/>
                </a:buClr>
                <a:buSzPts val="1000"/>
                <a:buFont typeface="Inter"/>
                <a:buChar char="●"/>
              </a:pPr>
              <a:r>
                <a:rPr lang="en-US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Evaluates both classical and quantum pathways</a:t>
              </a:r>
              <a:endParaRPr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2563EB"/>
                </a:buClr>
                <a:buSzPts val="1000"/>
                <a:buFont typeface="Inter"/>
                <a:buChar char="●"/>
              </a:pPr>
              <a:r>
                <a:rPr lang="en-US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Compares predictive accuracy against runtimes</a:t>
              </a:r>
              <a:endParaRPr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2563EB"/>
                </a:buClr>
                <a:buSzPts val="1000"/>
                <a:buFont typeface="Inter"/>
                <a:buChar char="●"/>
              </a:pPr>
              <a:r>
                <a:rPr b="1" lang="en-US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Recommends the pathway supported by empirical evidence</a:t>
              </a:r>
              <a:endParaRPr b="1" sz="10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1" name="Google Shape;71;p6"/>
          <p:cNvGrpSpPr/>
          <p:nvPr/>
        </p:nvGrpSpPr>
        <p:grpSpPr>
          <a:xfrm>
            <a:off x="4000500" y="1333500"/>
            <a:ext cx="4191000" cy="4857900"/>
            <a:chOff x="0" y="0"/>
            <a:chExt cx="4191000" cy="4857900"/>
          </a:xfrm>
        </p:grpSpPr>
        <p:sp>
          <p:nvSpPr>
            <p:cNvPr id="72" name="Google Shape;72;p6"/>
            <p:cNvSpPr/>
            <p:nvPr/>
          </p:nvSpPr>
          <p:spPr>
            <a:xfrm>
              <a:off x="0" y="0"/>
              <a:ext cx="4191000" cy="4857900"/>
            </a:xfrm>
            <a:prstGeom prst="roundRect">
              <a:avLst>
                <a:gd fmla="val 363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6"/>
            <p:cNvSpPr/>
            <p:nvPr/>
          </p:nvSpPr>
          <p:spPr>
            <a:xfrm>
              <a:off x="0" y="0"/>
              <a:ext cx="4191000" cy="457200"/>
            </a:xfrm>
            <a:prstGeom prst="roundRect">
              <a:avLst>
                <a:gd fmla="val 33333" name="adj"/>
              </a:avLst>
            </a:prstGeom>
            <a:solidFill>
              <a:srgbClr val="1E3A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6"/>
            <p:cNvSpPr/>
            <p:nvPr/>
          </p:nvSpPr>
          <p:spPr>
            <a:xfrm>
              <a:off x="0" y="266700"/>
              <a:ext cx="4191000" cy="190500"/>
            </a:xfrm>
            <a:prstGeom prst="rect">
              <a:avLst/>
            </a:prstGeom>
            <a:solidFill>
              <a:srgbClr val="1E3A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6"/>
            <p:cNvSpPr txBox="1"/>
            <p:nvPr/>
          </p:nvSpPr>
          <p:spPr>
            <a:xfrm>
              <a:off x="0" y="0"/>
              <a:ext cx="4191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EVIDENCE-GATED PIPELINE ARCHITECTURE</a:t>
              </a:r>
              <a:endParaRPr b="0" sz="11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pic>
          <p:nvPicPr>
            <p:cNvPr id="76" name="Google Shape;76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085975" y="647700"/>
              <a:ext cx="19200" cy="40005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7" name="Google Shape;77;p6"/>
            <p:cNvGrpSpPr/>
            <p:nvPr/>
          </p:nvGrpSpPr>
          <p:grpSpPr>
            <a:xfrm>
              <a:off x="180975" y="647700"/>
              <a:ext cx="3829200" cy="4010025"/>
              <a:chOff x="-9525" y="0"/>
              <a:chExt cx="3829200" cy="4010025"/>
            </a:xfrm>
          </p:grpSpPr>
          <p:grpSp>
            <p:nvGrpSpPr>
              <p:cNvPr id="78" name="Google Shape;78;p6"/>
              <p:cNvGrpSpPr/>
              <p:nvPr/>
            </p:nvGrpSpPr>
            <p:grpSpPr>
              <a:xfrm>
                <a:off x="0" y="0"/>
                <a:ext cx="3810000" cy="381000"/>
                <a:chOff x="0" y="0"/>
                <a:chExt cx="3810000" cy="381000"/>
              </a:xfrm>
            </p:grpSpPr>
            <p:sp>
              <p:nvSpPr>
                <p:cNvPr id="79" name="Google Shape;79;p6"/>
                <p:cNvSpPr/>
                <p:nvPr/>
              </p:nvSpPr>
              <p:spPr>
                <a:xfrm>
                  <a:off x="0" y="0"/>
                  <a:ext cx="3810000" cy="381000"/>
                </a:xfrm>
                <a:prstGeom prst="roundRect">
                  <a:avLst>
                    <a:gd fmla="val 20000" name="adj"/>
                  </a:avLst>
                </a:prstGeom>
                <a:solidFill>
                  <a:srgbClr val="F8FAFC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" name="Google Shape;80;p6"/>
                <p:cNvSpPr txBox="1"/>
                <p:nvPr/>
              </p:nvSpPr>
              <p:spPr>
                <a:xfrm>
                  <a:off x="0" y="0"/>
                  <a:ext cx="38100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000">
                      <a:solidFill>
                        <a:srgbClr val="1E293B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1. Biomedical Data &amp; Ingestion</a:t>
                  </a:r>
                  <a:endParaRPr b="1" sz="10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81" name="Google Shape;81;p6"/>
              <p:cNvGrpSpPr/>
              <p:nvPr/>
            </p:nvGrpSpPr>
            <p:grpSpPr>
              <a:xfrm>
                <a:off x="0" y="495300"/>
                <a:ext cx="3810000" cy="381000"/>
                <a:chOff x="0" y="0"/>
                <a:chExt cx="3810000" cy="381000"/>
              </a:xfrm>
            </p:grpSpPr>
            <p:sp>
              <p:nvSpPr>
                <p:cNvPr id="82" name="Google Shape;82;p6"/>
                <p:cNvSpPr/>
                <p:nvPr/>
              </p:nvSpPr>
              <p:spPr>
                <a:xfrm>
                  <a:off x="0" y="0"/>
                  <a:ext cx="3810000" cy="381000"/>
                </a:xfrm>
                <a:prstGeom prst="roundRect">
                  <a:avLst>
                    <a:gd fmla="val 20000" name="adj"/>
                  </a:avLst>
                </a:prstGeom>
                <a:solidFill>
                  <a:srgbClr val="F8FAFC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3" name="Google Shape;83;p6"/>
                <p:cNvSpPr txBox="1"/>
                <p:nvPr/>
              </p:nvSpPr>
              <p:spPr>
                <a:xfrm>
                  <a:off x="0" y="0"/>
                  <a:ext cx="38100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000">
                      <a:solidFill>
                        <a:srgbClr val="1E293B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2. Preprocessing &amp; Feature Engineering</a:t>
                  </a:r>
                  <a:endParaRPr b="1" sz="10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84" name="Google Shape;84;p6"/>
              <p:cNvGrpSpPr/>
              <p:nvPr/>
            </p:nvGrpSpPr>
            <p:grpSpPr>
              <a:xfrm>
                <a:off x="0" y="990600"/>
                <a:ext cx="3810000" cy="381000"/>
                <a:chOff x="0" y="0"/>
                <a:chExt cx="3810000" cy="381000"/>
              </a:xfrm>
            </p:grpSpPr>
            <p:sp>
              <p:nvSpPr>
                <p:cNvPr id="85" name="Google Shape;85;p6"/>
                <p:cNvSpPr/>
                <p:nvPr/>
              </p:nvSpPr>
              <p:spPr>
                <a:xfrm>
                  <a:off x="0" y="0"/>
                  <a:ext cx="3810000" cy="381000"/>
                </a:xfrm>
                <a:prstGeom prst="roundRect">
                  <a:avLst>
                    <a:gd fmla="val 20000" name="adj"/>
                  </a:avLst>
                </a:prstGeom>
                <a:solidFill>
                  <a:srgbClr val="F8FAFC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" name="Google Shape;86;p6"/>
                <p:cNvSpPr txBox="1"/>
                <p:nvPr/>
              </p:nvSpPr>
              <p:spPr>
                <a:xfrm>
                  <a:off x="0" y="0"/>
                  <a:ext cx="38100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000">
                      <a:solidFill>
                        <a:srgbClr val="1E293B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3. Representation &amp; Complexity Profile</a:t>
                  </a:r>
                  <a:endParaRPr b="1" sz="10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87" name="Google Shape;87;p6"/>
              <p:cNvGrpSpPr/>
              <p:nvPr/>
            </p:nvGrpSpPr>
            <p:grpSpPr>
              <a:xfrm>
                <a:off x="0" y="1485900"/>
                <a:ext cx="3810000" cy="1428900"/>
                <a:chOff x="0" y="0"/>
                <a:chExt cx="3810000" cy="1428900"/>
              </a:xfrm>
            </p:grpSpPr>
            <p:sp>
              <p:nvSpPr>
                <p:cNvPr id="88" name="Google Shape;88;p6"/>
                <p:cNvSpPr/>
                <p:nvPr/>
              </p:nvSpPr>
              <p:spPr>
                <a:xfrm>
                  <a:off x="0" y="0"/>
                  <a:ext cx="3810000" cy="1428900"/>
                </a:xfrm>
                <a:prstGeom prst="roundRect">
                  <a:avLst>
                    <a:gd fmla="val 8000" name="adj"/>
                  </a:avLst>
                </a:prstGeom>
                <a:solidFill>
                  <a:srgbClr val="F1F5F9"/>
                </a:solidFill>
                <a:ln cap="flat" cmpd="sng" w="9525">
                  <a:solidFill>
                    <a:srgbClr val="94A3B8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" name="Google Shape;89;p6"/>
                <p:cNvSpPr txBox="1"/>
                <p:nvPr/>
              </p:nvSpPr>
              <p:spPr>
                <a:xfrm>
                  <a:off x="0" y="76200"/>
                  <a:ext cx="3810000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950">
                      <a:solidFill>
                        <a:srgbClr val="0F172A"/>
                      </a:solidFill>
                      <a:latin typeface="Inter ExtraBold"/>
                      <a:ea typeface="Inter ExtraBold"/>
                      <a:cs typeface="Inter ExtraBold"/>
                      <a:sym typeface="Inter ExtraBold"/>
                    </a:rPr>
                    <a:t>4. Hybrid Learning Engine (Dual-Path Evaluation)</a:t>
                  </a:r>
                  <a:endParaRPr b="0" sz="950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endParaRPr>
                </a:p>
              </p:txBody>
            </p:sp>
            <p:grpSp>
              <p:nvGrpSpPr>
                <p:cNvPr id="90" name="Google Shape;90;p6"/>
                <p:cNvGrpSpPr/>
                <p:nvPr/>
              </p:nvGrpSpPr>
              <p:grpSpPr>
                <a:xfrm>
                  <a:off x="114300" y="342900"/>
                  <a:ext cx="1733700" cy="971700"/>
                  <a:chOff x="0" y="0"/>
                  <a:chExt cx="1733700" cy="971700"/>
                </a:xfrm>
              </p:grpSpPr>
              <p:sp>
                <p:nvSpPr>
                  <p:cNvPr id="91" name="Google Shape;91;p6"/>
                  <p:cNvSpPr/>
                  <p:nvPr/>
                </p:nvSpPr>
                <p:spPr>
                  <a:xfrm>
                    <a:off x="0" y="0"/>
                    <a:ext cx="1733700" cy="971700"/>
                  </a:xfrm>
                  <a:prstGeom prst="roundRect">
                    <a:avLst>
                      <a:gd fmla="val 7843" name="adj"/>
                    </a:avLst>
                  </a:prstGeom>
                  <a:solidFill>
                    <a:srgbClr val="EFF6FF"/>
                  </a:solidFill>
                  <a:ln cap="flat" cmpd="sng" w="14300">
                    <a:solidFill>
                      <a:srgbClr val="3B82F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2" name="Google Shape;92;p6"/>
                  <p:cNvSpPr txBox="1"/>
                  <p:nvPr/>
                </p:nvSpPr>
                <p:spPr>
                  <a:xfrm>
                    <a:off x="0" y="0"/>
                    <a:ext cx="1733700" cy="971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76200" lIns="76200" spcFirstLastPara="1" rIns="76200" wrap="square" tIns="76200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lang="en-US" sz="900">
                        <a:solidFill>
                          <a:srgbClr val="1D4ED8"/>
                        </a:solidFill>
                        <a:latin typeface="Inter ExtraBold"/>
                        <a:ea typeface="Inter ExtraBold"/>
                        <a:cs typeface="Inter ExtraBold"/>
                        <a:sym typeface="Inter ExtraBold"/>
                      </a:rPr>
                      <a:t>Classical Baselines</a:t>
                    </a:r>
                    <a:endParaRPr b="0" sz="900">
                      <a:solidFill>
                        <a:srgbClr val="1D4ED8"/>
                      </a:solidFill>
                      <a:latin typeface="Inter ExtraBold"/>
                      <a:ea typeface="Inter ExtraBold"/>
                      <a:cs typeface="Inter ExtraBold"/>
                      <a:sym typeface="Inter ExtraBold"/>
                    </a:endParaRPr>
                  </a:p>
                  <a:p>
                    <a:pPr indent="0" lvl="0" marL="0" rtl="0" algn="l">
                      <a:spcBef>
                        <a:spcPts val="45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850">
                        <a:solidFill>
                          <a:srgbClr val="1E293B"/>
                        </a:solidFill>
                        <a:latin typeface="Inter"/>
                        <a:ea typeface="Inter"/>
                        <a:cs typeface="Inter"/>
                        <a:sym typeface="Inter"/>
                      </a:rPr>
                      <a:t>• Support Vector Machine</a:t>
                    </a:r>
                    <a:endParaRPr sz="850">
                      <a:solidFill>
                        <a:srgbClr val="1E293B"/>
                      </a:solidFill>
                      <a:latin typeface="Inter"/>
                      <a:ea typeface="Inter"/>
                      <a:cs typeface="Inter"/>
                      <a:sym typeface="Inter"/>
                    </a:endParaRPr>
                  </a:p>
                  <a:p>
                    <a:pPr indent="0" lvl="0" marL="0" rtl="0" algn="l">
                      <a:spcBef>
                        <a:spcPts val="225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850">
                        <a:solidFill>
                          <a:srgbClr val="1E293B"/>
                        </a:solidFill>
                        <a:latin typeface="Inter"/>
                        <a:ea typeface="Inter"/>
                        <a:cs typeface="Inter"/>
                        <a:sym typeface="Inter"/>
                      </a:rPr>
                      <a:t>• Random Forest</a:t>
                    </a:r>
                    <a:endParaRPr sz="850">
                      <a:solidFill>
                        <a:srgbClr val="1E293B"/>
                      </a:solidFill>
                      <a:latin typeface="Inter"/>
                      <a:ea typeface="Inter"/>
                      <a:cs typeface="Inter"/>
                      <a:sym typeface="Inter"/>
                    </a:endParaRPr>
                  </a:p>
                  <a:p>
                    <a:pPr indent="0" lvl="0" marL="0" rtl="0" algn="l">
                      <a:spcBef>
                        <a:spcPts val="225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850">
                        <a:solidFill>
                          <a:srgbClr val="1E293B"/>
                        </a:solidFill>
                        <a:latin typeface="Inter"/>
                        <a:ea typeface="Inter"/>
                        <a:cs typeface="Inter"/>
                        <a:sym typeface="Inter"/>
                      </a:rPr>
                      <a:t>• XGBoost</a:t>
                    </a:r>
                    <a:endParaRPr sz="850">
                      <a:solidFill>
                        <a:srgbClr val="1E293B"/>
                      </a:solidFill>
                      <a:latin typeface="Inter"/>
                      <a:ea typeface="Inter"/>
                      <a:cs typeface="Inter"/>
                      <a:sym typeface="Inter"/>
                    </a:endParaRPr>
                  </a:p>
                </p:txBody>
              </p:sp>
            </p:grpSp>
            <p:grpSp>
              <p:nvGrpSpPr>
                <p:cNvPr id="93" name="Google Shape;93;p6"/>
                <p:cNvGrpSpPr/>
                <p:nvPr/>
              </p:nvGrpSpPr>
              <p:grpSpPr>
                <a:xfrm>
                  <a:off x="1962150" y="342900"/>
                  <a:ext cx="1733700" cy="971700"/>
                  <a:chOff x="0" y="0"/>
                  <a:chExt cx="1733700" cy="971700"/>
                </a:xfrm>
              </p:grpSpPr>
              <p:sp>
                <p:nvSpPr>
                  <p:cNvPr id="94" name="Google Shape;94;p6"/>
                  <p:cNvSpPr/>
                  <p:nvPr/>
                </p:nvSpPr>
                <p:spPr>
                  <a:xfrm>
                    <a:off x="0" y="0"/>
                    <a:ext cx="1733700" cy="971700"/>
                  </a:xfrm>
                  <a:prstGeom prst="roundRect">
                    <a:avLst>
                      <a:gd fmla="val 7843" name="adj"/>
                    </a:avLst>
                  </a:prstGeom>
                  <a:solidFill>
                    <a:srgbClr val="F0FDF4"/>
                  </a:solidFill>
                  <a:ln cap="flat" cmpd="sng" w="14300">
                    <a:solidFill>
                      <a:srgbClr val="16A34A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5" name="Google Shape;95;p6"/>
                  <p:cNvSpPr txBox="1"/>
                  <p:nvPr/>
                </p:nvSpPr>
                <p:spPr>
                  <a:xfrm>
                    <a:off x="0" y="0"/>
                    <a:ext cx="1733700" cy="971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76200" lIns="76200" spcFirstLastPara="1" rIns="76200" wrap="square" tIns="76200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lang="en-US" sz="900">
                        <a:solidFill>
                          <a:srgbClr val="15803D"/>
                        </a:solidFill>
                        <a:latin typeface="Inter ExtraBold"/>
                        <a:ea typeface="Inter ExtraBold"/>
                        <a:cs typeface="Inter ExtraBold"/>
                        <a:sym typeface="Inter ExtraBold"/>
                      </a:rPr>
                      <a:t>Quantum Enhanced</a:t>
                    </a:r>
                    <a:endParaRPr b="0" sz="900">
                      <a:solidFill>
                        <a:srgbClr val="15803D"/>
                      </a:solidFill>
                      <a:latin typeface="Inter ExtraBold"/>
                      <a:ea typeface="Inter ExtraBold"/>
                      <a:cs typeface="Inter ExtraBold"/>
                      <a:sym typeface="Inter ExtraBold"/>
                    </a:endParaRPr>
                  </a:p>
                  <a:p>
                    <a:pPr indent="0" lvl="0" marL="0" rtl="0" algn="l">
                      <a:spcBef>
                        <a:spcPts val="45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850">
                        <a:solidFill>
                          <a:srgbClr val="1E293B"/>
                        </a:solidFill>
                        <a:latin typeface="Inter"/>
                        <a:ea typeface="Inter"/>
                        <a:cs typeface="Inter"/>
                        <a:sym typeface="Inter"/>
                      </a:rPr>
                      <a:t>• Var. Quantum Circuit</a:t>
                    </a:r>
                    <a:endParaRPr sz="850">
                      <a:solidFill>
                        <a:srgbClr val="1E293B"/>
                      </a:solidFill>
                      <a:latin typeface="Inter"/>
                      <a:ea typeface="Inter"/>
                      <a:cs typeface="Inter"/>
                      <a:sym typeface="Inter"/>
                    </a:endParaRPr>
                  </a:p>
                  <a:p>
                    <a:pPr indent="0" lvl="0" marL="0" rtl="0" algn="l">
                      <a:spcBef>
                        <a:spcPts val="225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850">
                        <a:solidFill>
                          <a:srgbClr val="1E293B"/>
                        </a:solidFill>
                        <a:latin typeface="Inter"/>
                        <a:ea typeface="Inter"/>
                        <a:cs typeface="Inter"/>
                        <a:sym typeface="Inter"/>
                      </a:rPr>
                      <a:t>• QSVM / Kernel</a:t>
                    </a:r>
                    <a:endParaRPr sz="850">
                      <a:solidFill>
                        <a:srgbClr val="1E293B"/>
                      </a:solidFill>
                      <a:latin typeface="Inter"/>
                      <a:ea typeface="Inter"/>
                      <a:cs typeface="Inter"/>
                      <a:sym typeface="Inter"/>
                    </a:endParaRPr>
                  </a:p>
                  <a:p>
                    <a:pPr indent="0" lvl="0" marL="0" rtl="0" algn="l">
                      <a:spcBef>
                        <a:spcPts val="225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850">
                        <a:solidFill>
                          <a:srgbClr val="1E293B"/>
                        </a:solidFill>
                        <a:latin typeface="Inter"/>
                        <a:ea typeface="Inter"/>
                        <a:cs typeface="Inter"/>
                        <a:sym typeface="Inter"/>
                      </a:rPr>
                      <a:t>• QNN Architectures</a:t>
                    </a:r>
                    <a:endParaRPr sz="850">
                      <a:solidFill>
                        <a:srgbClr val="1E293B"/>
                      </a:solidFill>
                      <a:latin typeface="Inter"/>
                      <a:ea typeface="Inter"/>
                      <a:cs typeface="Inter"/>
                      <a:sym typeface="Inter"/>
                    </a:endParaRPr>
                  </a:p>
                </p:txBody>
              </p:sp>
            </p:grpSp>
          </p:grpSp>
          <p:grpSp>
            <p:nvGrpSpPr>
              <p:cNvPr id="96" name="Google Shape;96;p6"/>
              <p:cNvGrpSpPr/>
              <p:nvPr/>
            </p:nvGrpSpPr>
            <p:grpSpPr>
              <a:xfrm>
                <a:off x="0" y="3028950"/>
                <a:ext cx="3810000" cy="381000"/>
                <a:chOff x="0" y="0"/>
                <a:chExt cx="3810000" cy="381000"/>
              </a:xfrm>
            </p:grpSpPr>
            <p:sp>
              <p:nvSpPr>
                <p:cNvPr id="97" name="Google Shape;97;p6"/>
                <p:cNvSpPr/>
                <p:nvPr/>
              </p:nvSpPr>
              <p:spPr>
                <a:xfrm>
                  <a:off x="0" y="0"/>
                  <a:ext cx="3810000" cy="381000"/>
                </a:xfrm>
                <a:prstGeom prst="roundRect">
                  <a:avLst>
                    <a:gd fmla="val 20000" name="adj"/>
                  </a:avLst>
                </a:prstGeom>
                <a:solidFill>
                  <a:srgbClr val="FFF7ED"/>
                </a:solidFill>
                <a:ln cap="flat" cmpd="sng" w="14300">
                  <a:solidFill>
                    <a:srgbClr val="F9731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" name="Google Shape;98;p6"/>
                <p:cNvSpPr txBox="1"/>
                <p:nvPr/>
              </p:nvSpPr>
              <p:spPr>
                <a:xfrm>
                  <a:off x="0" y="0"/>
                  <a:ext cx="38100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1000">
                      <a:solidFill>
                        <a:srgbClr val="C2410C"/>
                      </a:solidFill>
                      <a:latin typeface="Inter ExtraBold"/>
                      <a:ea typeface="Inter ExtraBold"/>
                      <a:cs typeface="Inter ExtraBold"/>
                      <a:sym typeface="Inter ExtraBold"/>
                    </a:rPr>
                    <a:t>5. Controlled Benchmark &amp; Evaluation</a:t>
                  </a:r>
                  <a:endParaRPr b="0" sz="1000">
                    <a:solidFill>
                      <a:srgbClr val="C2410C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endParaRPr>
                </a:p>
              </p:txBody>
            </p:sp>
          </p:grpSp>
          <p:grpSp>
            <p:nvGrpSpPr>
              <p:cNvPr id="99" name="Google Shape;99;p6"/>
              <p:cNvGrpSpPr/>
              <p:nvPr/>
            </p:nvGrpSpPr>
            <p:grpSpPr>
              <a:xfrm>
                <a:off x="-9525" y="3514725"/>
                <a:ext cx="3829200" cy="495300"/>
                <a:chOff x="-9525" y="-9525"/>
                <a:chExt cx="3829200" cy="495300"/>
              </a:xfrm>
            </p:grpSpPr>
            <p:pic>
              <p:nvPicPr>
                <p:cNvPr id="100" name="Google Shape;100;p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-9525" y="-9525"/>
                  <a:ext cx="3829200" cy="4953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01" name="Google Shape;101;p6"/>
                <p:cNvSpPr txBox="1"/>
                <p:nvPr/>
              </p:nvSpPr>
              <p:spPr>
                <a:xfrm>
                  <a:off x="0" y="0"/>
                  <a:ext cx="3810000" cy="476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1050">
                      <a:solidFill>
                        <a:srgbClr val="1D4ED8"/>
                      </a:solidFill>
                      <a:latin typeface="Inter ExtraBold"/>
                      <a:ea typeface="Inter ExtraBold"/>
                      <a:cs typeface="Inter ExtraBold"/>
                      <a:sym typeface="Inter ExtraBold"/>
                    </a:rPr>
                    <a:t>6. Evidence-Gated Pathway Selection</a:t>
                  </a:r>
                  <a:endParaRPr b="0" sz="1050">
                    <a:solidFill>
                      <a:srgbClr val="1D4ED8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endParaRPr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800">
                      <a:solidFill>
                        <a:srgbClr val="475569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Innovation Layer • Dynamic Routing</a:t>
                  </a:r>
                  <a:endParaRPr>
                    <a:solidFill>
                      <a:srgbClr val="1D4ED8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</p:grpSp>
      </p:grpSp>
      <p:grpSp>
        <p:nvGrpSpPr>
          <p:cNvPr id="102" name="Google Shape;102;p6"/>
          <p:cNvGrpSpPr/>
          <p:nvPr/>
        </p:nvGrpSpPr>
        <p:grpSpPr>
          <a:xfrm>
            <a:off x="8382000" y="1333500"/>
            <a:ext cx="3429000" cy="4857900"/>
            <a:chOff x="0" y="0"/>
            <a:chExt cx="3429000" cy="4857900"/>
          </a:xfrm>
        </p:grpSpPr>
        <p:sp>
          <p:nvSpPr>
            <p:cNvPr id="103" name="Google Shape;103;p6"/>
            <p:cNvSpPr/>
            <p:nvPr/>
          </p:nvSpPr>
          <p:spPr>
            <a:xfrm>
              <a:off x="0" y="0"/>
              <a:ext cx="3429000" cy="4857900"/>
            </a:xfrm>
            <a:prstGeom prst="roundRect">
              <a:avLst>
                <a:gd fmla="val 4444" name="adj"/>
              </a:avLst>
            </a:prstGeom>
            <a:solidFill>
              <a:srgbClr val="F8FAFC"/>
            </a:solidFill>
            <a:ln cap="flat" cmpd="sng" w="14300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6"/>
            <p:cNvSpPr txBox="1"/>
            <p:nvPr/>
          </p:nvSpPr>
          <p:spPr>
            <a:xfrm>
              <a:off x="228600" y="123750"/>
              <a:ext cx="2971800" cy="440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45720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1E293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   </a:t>
              </a:r>
              <a:r>
                <a:rPr b="0" lang="en-US" sz="1500">
                  <a:solidFill>
                    <a:srgbClr val="1E293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Our Differentiator</a:t>
              </a:r>
              <a:endParaRPr b="0" sz="1500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1E40AF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QUANTUM IS EVALUATED,</a:t>
              </a:r>
              <a:br>
                <a:rPr b="0" lang="en-US" sz="1100">
                  <a:solidFill>
                    <a:srgbClr val="1E40AF"/>
                  </a:solidFill>
                  <a:latin typeface="Inter Black"/>
                  <a:ea typeface="Inter Black"/>
                  <a:cs typeface="Inter Black"/>
                  <a:sym typeface="Inter Black"/>
                </a:rPr>
              </a:br>
              <a:r>
                <a:rPr b="0" lang="en-US" sz="1100">
                  <a:solidFill>
                    <a:srgbClr val="1E40AF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NOT ASSUMED.</a:t>
              </a:r>
              <a:endParaRPr b="0" sz="1100">
                <a:solidFill>
                  <a:srgbClr val="1E40AF"/>
                </a:solidFill>
                <a:latin typeface="Inter Black"/>
                <a:ea typeface="Inter Black"/>
                <a:cs typeface="Inter Black"/>
                <a:sym typeface="Inter Black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Core Innovation:</a:t>
              </a:r>
              <a:endParaRPr b="1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The platform does not force a quantum pathway. It measures whether one is justified for the available data and tested evidence.</a:t>
              </a:r>
              <a:endParaRPr sz="9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Evidence States Evaluated:</a:t>
              </a:r>
              <a:endParaRPr b="1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Classical Preferred</a:t>
              </a:r>
              <a:endParaRPr b="1" sz="95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When classical baselines excel on standard data</a:t>
              </a:r>
              <a:endParaRPr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Quantum Pathway Promising</a:t>
              </a:r>
              <a:endParaRPr b="1" sz="95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When quantum mapping provides clear edge</a:t>
              </a:r>
              <a:endParaRPr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D97706"/>
                  </a:solidFill>
                  <a:latin typeface="Inter"/>
                  <a:ea typeface="Inter"/>
                  <a:cs typeface="Inter"/>
                  <a:sym typeface="Inter"/>
                </a:rPr>
                <a:t>Statistically Comparable</a:t>
              </a:r>
              <a:endParaRPr b="1" sz="950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When both paths yield similar outcome</a:t>
              </a:r>
              <a:endParaRPr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Inconclusive</a:t>
              </a:r>
              <a:endParaRPr b="1"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When data limits confident evaluation</a:t>
              </a:r>
              <a:endParaRPr sz="8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05" name="Google Shape;105;p6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6" name="Google Shape;106;p6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descr="Your startup LOGO" id="107" name="Google Shape;107;p6"/>
          <p:cNvSpPr/>
          <p:nvPr/>
        </p:nvSpPr>
        <p:spPr>
          <a:xfrm>
            <a:off x="329773" y="252246"/>
            <a:ext cx="1251900" cy="8073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8064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625" lIns="47625" spcFirstLastPara="1" rIns="47625" wrap="square" tIns="47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Chai.EXE</a:t>
            </a:r>
            <a:endParaRPr b="1"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41366" y="57097"/>
            <a:ext cx="2209120" cy="1121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16" name="Google Shape;116;p7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7" name="Google Shape;117;p7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descr="Your startup LOGO" id="118" name="Google Shape;118;p7"/>
          <p:cNvSpPr/>
          <p:nvPr/>
        </p:nvSpPr>
        <p:spPr>
          <a:xfrm>
            <a:off x="329773" y="252246"/>
            <a:ext cx="1251900" cy="8073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8064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625" lIns="47625" spcFirstLastPara="1" rIns="47625" wrap="square" tIns="47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Chai.EXE</a:t>
            </a:r>
            <a:endParaRPr b="1" i="0"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1366" y="57097"/>
            <a:ext cx="2209120" cy="11218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7"/>
          <p:cNvGrpSpPr/>
          <p:nvPr/>
        </p:nvGrpSpPr>
        <p:grpSpPr>
          <a:xfrm>
            <a:off x="428625" y="1143000"/>
            <a:ext cx="5524500" cy="4667400"/>
            <a:chOff x="0" y="0"/>
            <a:chExt cx="5524500" cy="4667400"/>
          </a:xfrm>
        </p:grpSpPr>
        <p:sp>
          <p:nvSpPr>
            <p:cNvPr id="121" name="Google Shape;121;p7"/>
            <p:cNvSpPr/>
            <p:nvPr/>
          </p:nvSpPr>
          <p:spPr>
            <a:xfrm>
              <a:off x="0" y="0"/>
              <a:ext cx="5524500" cy="4667400"/>
            </a:xfrm>
            <a:prstGeom prst="roundRect">
              <a:avLst>
                <a:gd fmla="val 2448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7"/>
            <p:cNvSpPr txBox="1"/>
            <p:nvPr/>
          </p:nvSpPr>
          <p:spPr>
            <a:xfrm>
              <a:off x="0" y="0"/>
              <a:ext cx="5524500" cy="46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F497D"/>
                  </a:solidFill>
                  <a:latin typeface="Arial"/>
                  <a:ea typeface="Arial"/>
                  <a:cs typeface="Arial"/>
                  <a:sym typeface="Arial"/>
                </a:rPr>
                <a:t>TECHNICAL SYSTEM ARCHITECTURE</a:t>
              </a:r>
              <a:endParaRPr b="1" sz="160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E40AF"/>
                  </a:solidFill>
                  <a:highlight>
                    <a:srgbClr val="EFF6FF"/>
                  </a:highlight>
                  <a:latin typeface="Arial"/>
                  <a:ea typeface="Arial"/>
                  <a:cs typeface="Arial"/>
                  <a:sym typeface="Arial"/>
                </a:rPr>
                <a:t>BIOMEDICAL DATA</a:t>
              </a:r>
              <a:endParaRPr b="1" sz="1200">
                <a:solidFill>
                  <a:srgbClr val="1E40AF"/>
                </a:solidFill>
                <a:highlight>
                  <a:srgbClr val="EFF6FF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↓</a:t>
              </a:r>
              <a:endParaRPr b="1" sz="12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334155"/>
                  </a:solidFill>
                  <a:highlight>
                    <a:srgbClr val="F1F5F9"/>
                  </a:highlight>
                  <a:latin typeface="Arial"/>
                  <a:ea typeface="Arial"/>
                  <a:cs typeface="Arial"/>
                  <a:sym typeface="Arial"/>
                </a:rPr>
                <a:t>PREPROCESSING</a:t>
              </a:r>
              <a:r>
                <a:rPr lang="en-US" sz="1600">
                  <a:highlight>
                    <a:srgbClr val="F1F5F9"/>
                  </a:highlight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1600">
                <a:highlight>
                  <a:srgbClr val="F1F5F9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Standardization + PCA</a:t>
              </a:r>
              <a:endParaRPr sz="1600">
                <a:highlight>
                  <a:srgbClr val="F1F5F9"/>
                </a:highlight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↓</a:t>
              </a:r>
              <a:endParaRPr b="1" sz="12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334155"/>
                  </a:solidFill>
                  <a:highlight>
                    <a:srgbClr val="F1F5F9"/>
                  </a:highlight>
                  <a:latin typeface="Arial"/>
                  <a:ea typeface="Arial"/>
                  <a:cs typeface="Arial"/>
                  <a:sym typeface="Arial"/>
                </a:rPr>
                <a:t>REPRESENTATION PROFILE</a:t>
              </a:r>
              <a:endParaRPr b="1" sz="1200">
                <a:solidFill>
                  <a:srgbClr val="334155"/>
                </a:solidFill>
                <a:highlight>
                  <a:srgbClr val="F1F5F9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Dimensions &amp; Retained Variance</a:t>
              </a:r>
              <a:endParaRPr sz="1600">
                <a:highlight>
                  <a:srgbClr val="F1F5F9"/>
                </a:highlight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↓</a:t>
              </a:r>
              <a:endParaRPr b="1" sz="12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0F172A"/>
                  </a:solidFill>
                  <a:highlight>
                    <a:srgbClr val="F1F5F9"/>
                  </a:highlight>
                  <a:latin typeface="Arial"/>
                  <a:ea typeface="Arial"/>
                  <a:cs typeface="Arial"/>
                  <a:sym typeface="Arial"/>
                </a:rPr>
                <a:t>HYBRID MODEL TRAINING</a:t>
              </a:r>
              <a:endParaRPr b="1" sz="1150">
                <a:solidFill>
                  <a:srgbClr val="0F172A"/>
                </a:solidFill>
                <a:highlight>
                  <a:srgbClr val="F1F5F9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D4ED8"/>
                  </a:solidFill>
                  <a:highlight>
                    <a:srgbClr val="EFF6FF"/>
                  </a:highlight>
                  <a:latin typeface="Arial"/>
                  <a:ea typeface="Arial"/>
                  <a:cs typeface="Arial"/>
                  <a:sym typeface="Arial"/>
                </a:rPr>
                <a:t>CLASSICAL</a:t>
              </a:r>
              <a:endParaRPr b="1" sz="1100">
                <a:solidFill>
                  <a:srgbClr val="1D4ED8"/>
                </a:solidFill>
                <a:highlight>
                  <a:srgbClr val="EFF6FF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1E293B"/>
                  </a:solidFill>
                  <a:highlight>
                    <a:srgbClr val="EFF6FF"/>
                  </a:highlight>
                  <a:latin typeface="Arial"/>
                  <a:ea typeface="Arial"/>
                  <a:cs typeface="Arial"/>
                  <a:sym typeface="Arial"/>
                </a:rPr>
                <a:t>SVM • RF • XGBoost</a:t>
              </a:r>
              <a:endParaRPr b="0" sz="1000">
                <a:solidFill>
                  <a:srgbClr val="1E293B"/>
                </a:solidFill>
                <a:highlight>
                  <a:srgbClr val="EFF6FF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5803D"/>
                  </a:solidFill>
                  <a:highlight>
                    <a:srgbClr val="F0FDF4"/>
                  </a:highlight>
                  <a:latin typeface="Arial"/>
                  <a:ea typeface="Arial"/>
                  <a:cs typeface="Arial"/>
                  <a:sym typeface="Arial"/>
                </a:rPr>
                <a:t>QUANTUM</a:t>
              </a:r>
              <a:endParaRPr b="1" sz="1100">
                <a:solidFill>
                  <a:srgbClr val="15803D"/>
                </a:solidFill>
                <a:highlight>
                  <a:srgbClr val="F0FDF4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1E293B"/>
                  </a:solidFill>
                  <a:highlight>
                    <a:srgbClr val="F0FDF4"/>
                  </a:highlight>
                  <a:latin typeface="Arial"/>
                  <a:ea typeface="Arial"/>
                  <a:cs typeface="Arial"/>
                  <a:sym typeface="Arial"/>
                </a:rPr>
                <a:t>VQC • QSVM</a:t>
              </a:r>
              <a:endParaRPr sz="1000">
                <a:solidFill>
                  <a:srgbClr val="1E293B"/>
                </a:solidFill>
                <a:highlight>
                  <a:srgbClr val="F0FDF4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↓</a:t>
              </a:r>
              <a:endParaRPr b="1" sz="12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991B1B"/>
                  </a:solidFill>
                  <a:highlight>
                    <a:srgbClr val="FEF2F2"/>
                  </a:highlight>
                  <a:latin typeface="Arial"/>
                  <a:ea typeface="Arial"/>
                  <a:cs typeface="Arial"/>
                  <a:sym typeface="Arial"/>
                </a:rPr>
                <a:t>DISEASE PREDICTION</a:t>
              </a:r>
              <a:endParaRPr b="1" sz="1200">
                <a:solidFill>
                  <a:srgbClr val="991B1B"/>
                </a:solidFill>
                <a:highlight>
                  <a:srgbClr val="FEF2F2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↓</a:t>
              </a:r>
              <a:endParaRPr b="1" sz="12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C2410C"/>
                  </a:solidFill>
                  <a:highlight>
                    <a:srgbClr val="FFF7ED"/>
                  </a:highlight>
                  <a:latin typeface="Arial"/>
                  <a:ea typeface="Arial"/>
                  <a:cs typeface="Arial"/>
                  <a:sym typeface="Arial"/>
                </a:rPr>
                <a:t>PERFORMANCE + RUNTIME EVALUATION</a:t>
              </a:r>
              <a:endParaRPr b="1" sz="1200">
                <a:solidFill>
                  <a:srgbClr val="C2410C"/>
                </a:solidFill>
                <a:highlight>
                  <a:srgbClr val="FFF7ED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↓</a:t>
              </a:r>
              <a:endParaRPr b="1" sz="12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475569"/>
                  </a:solidFill>
                  <a:highlight>
                    <a:srgbClr val="F8FAFC"/>
                  </a:highlight>
                  <a:latin typeface="Arial"/>
                  <a:ea typeface="Arial"/>
                  <a:cs typeface="Arial"/>
                  <a:sym typeface="Arial"/>
                </a:rPr>
                <a:t>EVIDENCE-GATED ROUTING</a:t>
              </a:r>
              <a:endParaRPr b="1" sz="1200">
                <a:solidFill>
                  <a:srgbClr val="475569"/>
                </a:solidFill>
                <a:highlight>
                  <a:srgbClr val="F8FAFC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↓</a:t>
              </a:r>
              <a:endParaRPr b="1" sz="12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6A34A"/>
                  </a:solidFill>
                  <a:latin typeface="Arial"/>
                  <a:ea typeface="Arial"/>
                  <a:cs typeface="Arial"/>
                  <a:sym typeface="Arial"/>
                </a:rPr>
                <a:t>PATHWAY RECOMMENDATION</a:t>
              </a:r>
              <a:endParaRPr b="1" sz="12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" name="Google Shape;123;p7"/>
          <p:cNvGrpSpPr/>
          <p:nvPr/>
        </p:nvGrpSpPr>
        <p:grpSpPr>
          <a:xfrm>
            <a:off x="6143625" y="1143000"/>
            <a:ext cx="5619900" cy="4667400"/>
            <a:chOff x="0" y="0"/>
            <a:chExt cx="5619900" cy="4667400"/>
          </a:xfrm>
        </p:grpSpPr>
        <p:sp>
          <p:nvSpPr>
            <p:cNvPr id="124" name="Google Shape;124;p7"/>
            <p:cNvSpPr/>
            <p:nvPr/>
          </p:nvSpPr>
          <p:spPr>
            <a:xfrm>
              <a:off x="0" y="0"/>
              <a:ext cx="5619900" cy="4667400"/>
            </a:xfrm>
            <a:prstGeom prst="roundRect">
              <a:avLst>
                <a:gd fmla="val 2448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7"/>
            <p:cNvSpPr txBox="1"/>
            <p:nvPr/>
          </p:nvSpPr>
          <p:spPr>
            <a:xfrm>
              <a:off x="0" y="76200"/>
              <a:ext cx="5619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WORKING RESEARCH PROTOTYPE</a:t>
              </a:r>
              <a:endParaRPr b="1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6" name="Google Shape;126;p7"/>
            <p:cNvGrpSpPr/>
            <p:nvPr/>
          </p:nvGrpSpPr>
          <p:grpSpPr>
            <a:xfrm>
              <a:off x="1143000" y="400050"/>
              <a:ext cx="3333900" cy="3571800"/>
              <a:chOff x="0" y="0"/>
              <a:chExt cx="3333900" cy="3571800"/>
            </a:xfrm>
          </p:grpSpPr>
          <p:pic>
            <p:nvPicPr>
              <p:cNvPr id="127" name="Google Shape;127;p7"/>
              <p:cNvPicPr preferRelativeResize="0"/>
              <p:nvPr/>
            </p:nvPicPr>
            <p:blipFill rotWithShape="1">
              <a:blip r:embed="rId4">
                <a:alphaModFix/>
              </a:blip>
              <a:srcRect b="6686" l="0" r="0" t="6712"/>
              <a:stretch/>
            </p:blipFill>
            <p:spPr>
              <a:xfrm>
                <a:off x="0" y="0"/>
                <a:ext cx="3333900" cy="3571800"/>
              </a:xfrm>
              <a:prstGeom prst="roundRect">
                <a:avLst>
                  <a:gd fmla="val 2285" name="adj"/>
                </a:avLst>
              </a:prstGeom>
              <a:noFill/>
              <a:ln>
                <a:noFill/>
              </a:ln>
            </p:spPr>
          </p:pic>
          <p:sp>
            <p:nvSpPr>
              <p:cNvPr id="128" name="Google Shape;128;p7"/>
              <p:cNvSpPr/>
              <p:nvPr/>
            </p:nvSpPr>
            <p:spPr>
              <a:xfrm>
                <a:off x="0" y="0"/>
                <a:ext cx="3333900" cy="3571800"/>
              </a:xfrm>
              <a:prstGeom prst="roundRect">
                <a:avLst>
                  <a:gd fmla="val 2285" name="adj"/>
                </a:avLst>
              </a:prstGeom>
              <a:solidFill>
                <a:srgbClr val="000000">
                  <a:alpha val="0"/>
                </a:srgbClr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9" name="Google Shape;129;p7"/>
            <p:cNvSpPr txBox="1"/>
            <p:nvPr/>
          </p:nvSpPr>
          <p:spPr>
            <a:xfrm>
              <a:off x="0" y="4048125"/>
              <a:ext cx="56199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1F497D"/>
                  </a:solidFill>
                  <a:latin typeface="Arial"/>
                  <a:ea typeface="Arial"/>
                  <a:cs typeface="Arial"/>
                  <a:sym typeface="Arial"/>
                </a:rPr>
                <a:t>Interactive evidence-gated evaluation dashboard</a:t>
              </a:r>
              <a:endParaRPr b="1" sz="95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1" lang="en-US" sz="8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Quantum benchmark runs are executed offline; the dashboard interactively evaluates stored experimental evidence.</a:t>
              </a:r>
              <a:endParaRPr b="1" sz="80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" name="Google Shape;130;p7"/>
          <p:cNvGrpSpPr/>
          <p:nvPr/>
        </p:nvGrpSpPr>
        <p:grpSpPr>
          <a:xfrm>
            <a:off x="428625" y="5924550"/>
            <a:ext cx="11334900" cy="342900"/>
            <a:chOff x="0" y="0"/>
            <a:chExt cx="11334900" cy="342900"/>
          </a:xfrm>
        </p:grpSpPr>
        <p:sp>
          <p:nvSpPr>
            <p:cNvPr id="131" name="Google Shape;131;p7"/>
            <p:cNvSpPr/>
            <p:nvPr/>
          </p:nvSpPr>
          <p:spPr>
            <a:xfrm>
              <a:off x="0" y="0"/>
              <a:ext cx="11334900" cy="342900"/>
            </a:xfrm>
            <a:prstGeom prst="roundRect">
              <a:avLst>
                <a:gd fmla="val 16666" name="adj"/>
              </a:avLst>
            </a:prstGeom>
            <a:solidFill>
              <a:srgbClr val="1F497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7"/>
            <p:cNvSpPr txBox="1"/>
            <p:nvPr/>
          </p:nvSpPr>
          <p:spPr>
            <a:xfrm>
              <a:off x="0" y="0"/>
              <a:ext cx="11334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Python </a:t>
              </a:r>
              <a:r>
                <a:rPr b="1" lang="en-US" sz="1000">
                  <a:solidFill>
                    <a:srgbClr val="38BDF8"/>
                  </a:solidFill>
                  <a:latin typeface="Arial"/>
                  <a:ea typeface="Arial"/>
                  <a:cs typeface="Arial"/>
                  <a:sym typeface="Arial"/>
                </a:rPr>
                <a:t>•</a:t>
              </a:r>
              <a:r>
                <a:rPr b="1" lang="en-US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React </a:t>
              </a:r>
              <a:r>
                <a:rPr b="1" lang="en-US" sz="1000">
                  <a:solidFill>
                    <a:srgbClr val="38BDF8"/>
                  </a:solidFill>
                  <a:latin typeface="Arial"/>
                  <a:ea typeface="Arial"/>
                  <a:cs typeface="Arial"/>
                  <a:sym typeface="Arial"/>
                </a:rPr>
                <a:t>•</a:t>
              </a:r>
              <a:r>
                <a:rPr b="1" lang="en-US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TypeScript </a:t>
              </a:r>
              <a:r>
                <a:rPr b="1" lang="en-US" sz="1000">
                  <a:solidFill>
                    <a:srgbClr val="38BDF8"/>
                  </a:solidFill>
                  <a:latin typeface="Arial"/>
                  <a:ea typeface="Arial"/>
                  <a:cs typeface="Arial"/>
                  <a:sym typeface="Arial"/>
                </a:rPr>
                <a:t>•</a:t>
              </a:r>
              <a:r>
                <a:rPr b="1" lang="en-US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FastAPI </a:t>
              </a:r>
              <a:r>
                <a:rPr b="1" lang="en-US" sz="1000">
                  <a:solidFill>
                    <a:srgbClr val="38BDF8"/>
                  </a:solidFill>
                  <a:latin typeface="Arial"/>
                  <a:ea typeface="Arial"/>
                  <a:cs typeface="Arial"/>
                  <a:sym typeface="Arial"/>
                </a:rPr>
                <a:t>•</a:t>
              </a:r>
              <a:r>
                <a:rPr b="1" lang="en-US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scikit-learn </a:t>
              </a:r>
              <a:r>
                <a:rPr b="1" lang="en-US" sz="1000">
                  <a:solidFill>
                    <a:srgbClr val="38BDF8"/>
                  </a:solidFill>
                  <a:latin typeface="Arial"/>
                  <a:ea typeface="Arial"/>
                  <a:cs typeface="Arial"/>
                  <a:sym typeface="Arial"/>
                </a:rPr>
                <a:t>•</a:t>
              </a:r>
              <a:r>
                <a:rPr b="1" lang="en-US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PennyLane</a:t>
              </a:r>
              <a:endPara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 txBox="1"/>
          <p:nvPr>
            <p:ph type="title"/>
          </p:nvPr>
        </p:nvSpPr>
        <p:spPr>
          <a:xfrm>
            <a:off x="1714500" y="142875"/>
            <a:ext cx="8001000" cy="85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 b="1" sz="2600">
              <a:solidFill>
                <a:srgbClr val="1F497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375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Can this actually be built? Experimental evidence, current limitations, and mitigations.</a:t>
            </a:r>
            <a:endParaRPr b="0" sz="115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8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1" name="Google Shape;141;p8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42" name="Google Shape;14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1366" y="57097"/>
            <a:ext cx="2209120" cy="112181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8"/>
          <p:cNvSpPr/>
          <p:nvPr/>
        </p:nvSpPr>
        <p:spPr>
          <a:xfrm>
            <a:off x="428625" y="1143000"/>
            <a:ext cx="5715000" cy="1666800"/>
          </a:xfrm>
          <a:prstGeom prst="roundRect">
            <a:avLst>
              <a:gd fmla="val 457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44" name="Google Shape;144;p8"/>
          <p:cNvGraphicFramePr/>
          <p:nvPr/>
        </p:nvGraphicFramePr>
        <p:xfrm>
          <a:off x="523875" y="1190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{5FC6F34A-E3B0-479E-869C-F4F3ACA2B9DC}</a:tableStyleId>
              </a:tblPr>
              <a:tblGrid>
                <a:gridCol w="1238250"/>
                <a:gridCol w="762000"/>
                <a:gridCol w="666750"/>
                <a:gridCol w="1047750"/>
                <a:gridCol w="857250"/>
                <a:gridCol w="952500"/>
              </a:tblGrid>
              <a:tr h="44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1E40AF"/>
                          </a:solidFill>
                          <a:highlight>
                            <a:srgbClr val="E2E8F0"/>
                          </a:highlight>
                        </a:rPr>
                        <a:t>DATASET</a:t>
                      </a:r>
                      <a:endParaRPr b="1">
                        <a:solidFill>
                          <a:srgbClr val="1E40AF"/>
                        </a:solidFill>
                        <a:highlight>
                          <a:srgbClr val="E2E8F0"/>
                        </a:highlight>
                      </a:endParaRPr>
                    </a:p>
                  </a:txBody>
                  <a:tcPr marT="0" marB="0" marR="0" marL="7620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1E40AF"/>
                          </a:solidFill>
                          <a:highlight>
                            <a:srgbClr val="E2E8F0"/>
                          </a:highlight>
                        </a:rPr>
                        <a:t>SVM</a:t>
                      </a:r>
                      <a:endParaRPr b="1">
                        <a:solidFill>
                          <a:srgbClr val="1E40AF"/>
                        </a:solidFill>
                        <a:highlight>
                          <a:srgbClr val="E2E8F0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A8A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1E40AF"/>
                          </a:solidFill>
                          <a:highlight>
                            <a:srgbClr val="E2E8F0"/>
                          </a:highlight>
                        </a:rPr>
                        <a:t>RF</a:t>
                      </a:r>
                      <a:endParaRPr b="1">
                        <a:solidFill>
                          <a:srgbClr val="1E40AF"/>
                        </a:solidFill>
                        <a:highlight>
                          <a:srgbClr val="E2E8F0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1E40AF"/>
                          </a:solidFill>
                          <a:highlight>
                            <a:srgbClr val="E2E8F0"/>
                          </a:highlight>
                        </a:rPr>
                        <a:t>XGBoost</a:t>
                      </a:r>
                      <a:endParaRPr b="1">
                        <a:solidFill>
                          <a:srgbClr val="1E40AF"/>
                        </a:solidFill>
                        <a:highlight>
                          <a:srgbClr val="E2E8F0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1E40AF"/>
                          </a:solidFill>
                          <a:highlight>
                            <a:srgbClr val="E2E8F0"/>
                          </a:highlight>
                        </a:rPr>
                        <a:t>QSVM</a:t>
                      </a:r>
                      <a:endParaRPr b="1">
                        <a:solidFill>
                          <a:srgbClr val="1E40AF"/>
                        </a:solidFill>
                        <a:highlight>
                          <a:srgbClr val="E2E8F0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1E40AF"/>
                          </a:solidFill>
                          <a:highlight>
                            <a:srgbClr val="E2E8F0"/>
                          </a:highlight>
                        </a:rPr>
                        <a:t>VQC</a:t>
                      </a:r>
                      <a:endParaRPr b="1">
                        <a:solidFill>
                          <a:srgbClr val="1E40AF"/>
                        </a:solidFill>
                        <a:highlight>
                          <a:srgbClr val="E2E8F0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8F0"/>
                    </a:solidFill>
                  </a:tcPr>
                </a:tc>
              </a:tr>
              <a:tr h="565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0F172A"/>
                          </a:solidFill>
                        </a:rPr>
                        <a:t>WDBC</a:t>
                      </a:r>
                      <a:endParaRPr b="1">
                        <a:solidFill>
                          <a:srgbClr val="0F172A"/>
                        </a:solidFill>
                      </a:endParaRPr>
                    </a:p>
                  </a:txBody>
                  <a:tcPr marT="0" marB="0" marR="0" marL="7620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A8A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0F172A"/>
                          </a:solidFill>
                          <a:highlight>
                            <a:srgbClr val="FEF08A"/>
                          </a:highlight>
                        </a:rPr>
                        <a:t>0.995</a:t>
                      </a:r>
                      <a:endParaRPr b="1">
                        <a:solidFill>
                          <a:srgbClr val="0F172A"/>
                        </a:solidFill>
                        <a:highlight>
                          <a:srgbClr val="FEF08A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CA8A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A8A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A8A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75569"/>
                          </a:solidFill>
                        </a:rPr>
                        <a:t>0.987</a:t>
                      </a:r>
                      <a:endParaRPr>
                        <a:solidFill>
                          <a:srgbClr val="47556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75569"/>
                          </a:solidFill>
                        </a:rPr>
                        <a:t>0.991</a:t>
                      </a:r>
                      <a:endParaRPr>
                        <a:solidFill>
                          <a:srgbClr val="47556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64748B"/>
                          </a:solidFill>
                        </a:rPr>
                        <a:t>0.842</a:t>
                      </a:r>
                      <a:endParaRPr>
                        <a:solidFill>
                          <a:srgbClr val="64748B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64748B"/>
                          </a:solidFill>
                        </a:rPr>
                        <a:t>0.665</a:t>
                      </a:r>
                      <a:endParaRPr>
                        <a:solidFill>
                          <a:srgbClr val="64748B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0F172A"/>
                          </a:solidFill>
                        </a:rPr>
                        <a:t>Parkinson's</a:t>
                      </a:r>
                      <a:endParaRPr b="1">
                        <a:solidFill>
                          <a:srgbClr val="0F172A"/>
                        </a:solidFill>
                      </a:endParaRPr>
                    </a:p>
                  </a:txBody>
                  <a:tcPr marT="0" marB="0" marR="0" marL="7620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A8A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0F172A"/>
                          </a:solidFill>
                          <a:highlight>
                            <a:srgbClr val="FEF08A"/>
                          </a:highlight>
                        </a:rPr>
                        <a:t>0.815</a:t>
                      </a:r>
                      <a:endParaRPr b="1">
                        <a:solidFill>
                          <a:srgbClr val="0F172A"/>
                        </a:solidFill>
                        <a:highlight>
                          <a:srgbClr val="FEF08A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CA8A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A8A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A8A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75569"/>
                          </a:solidFill>
                        </a:rPr>
                        <a:t>0.801</a:t>
                      </a:r>
                      <a:endParaRPr>
                        <a:solidFill>
                          <a:srgbClr val="47556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75569"/>
                          </a:solidFill>
                        </a:rPr>
                        <a:t>0.781</a:t>
                      </a:r>
                      <a:endParaRPr>
                        <a:solidFill>
                          <a:srgbClr val="47556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64748B"/>
                          </a:solidFill>
                        </a:rPr>
                        <a:t>0.505</a:t>
                      </a:r>
                      <a:endParaRPr>
                        <a:solidFill>
                          <a:srgbClr val="64748B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64748B"/>
                          </a:solidFill>
                        </a:rPr>
                        <a:t>0.549</a:t>
                      </a:r>
                      <a:endParaRPr>
                        <a:solidFill>
                          <a:srgbClr val="64748B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5" name="Google Shape;145;p8"/>
          <p:cNvSpPr txBox="1"/>
          <p:nvPr/>
        </p:nvSpPr>
        <p:spPr>
          <a:xfrm>
            <a:off x="523875" y="2838450"/>
            <a:ext cx="5524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ROC-AUC under the tested protocol</a:t>
            </a:r>
            <a:endParaRPr i="1" sz="9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6" name="Google Shape;146;p8"/>
          <p:cNvGrpSpPr/>
          <p:nvPr/>
        </p:nvGrpSpPr>
        <p:grpSpPr>
          <a:xfrm>
            <a:off x="428625" y="3095625"/>
            <a:ext cx="5715000" cy="1857300"/>
            <a:chOff x="0" y="0"/>
            <a:chExt cx="5715000" cy="1857300"/>
          </a:xfrm>
        </p:grpSpPr>
        <p:sp>
          <p:nvSpPr>
            <p:cNvPr id="147" name="Google Shape;147;p8"/>
            <p:cNvSpPr/>
            <p:nvPr/>
          </p:nvSpPr>
          <p:spPr>
            <a:xfrm>
              <a:off x="0" y="0"/>
              <a:ext cx="5715000" cy="1857300"/>
            </a:xfrm>
            <a:prstGeom prst="roundRect">
              <a:avLst>
                <a:gd fmla="val 4102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8"/>
            <p:cNvSpPr txBox="1"/>
            <p:nvPr/>
          </p:nvSpPr>
          <p:spPr>
            <a:xfrm>
              <a:off x="190500" y="95250"/>
              <a:ext cx="5334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rPr>
                <a:t>Simulator Runtime Comparison (per fold)</a:t>
              </a:r>
              <a:endParaRPr b="1" sz="12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CLASSICAL&lt;0.25 s – ~3 s</a:t>
              </a:r>
              <a:endParaRPr sz="11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B45309"/>
                  </a:solidFill>
                  <a:latin typeface="Arial"/>
                  <a:ea typeface="Arial"/>
                  <a:cs typeface="Arial"/>
                  <a:sym typeface="Arial"/>
                </a:rPr>
                <a:t>QSVM~454 s – ~576 s</a:t>
              </a:r>
              <a:endParaRPr sz="11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B45309"/>
                  </a:solidFill>
                  <a:latin typeface="Arial"/>
                  <a:ea typeface="Arial"/>
                  <a:cs typeface="Arial"/>
                  <a:sym typeface="Arial"/>
                </a:rPr>
                <a:t>VQC~1801 s – ~2064 s</a:t>
              </a:r>
              <a:endParaRPr sz="11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i="1" lang="en-US" sz="8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Note: Offline simulation execution, not physical QPU performance.</a:t>
              </a:r>
              <a:endParaRPr i="1" sz="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Your startup LOGO" id="149" name="Google Shape;149;p8"/>
          <p:cNvSpPr/>
          <p:nvPr/>
        </p:nvSpPr>
        <p:spPr>
          <a:xfrm>
            <a:off x="329773" y="252246"/>
            <a:ext cx="1251900" cy="8073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8064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625" lIns="47625" spcFirstLastPara="1" rIns="47625" wrap="square" tIns="47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Chai.EXE</a:t>
            </a:r>
            <a:endParaRPr b="1"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0" name="Google Shape;150;p8"/>
          <p:cNvGrpSpPr/>
          <p:nvPr/>
        </p:nvGrpSpPr>
        <p:grpSpPr>
          <a:xfrm>
            <a:off x="6334125" y="1143000"/>
            <a:ext cx="5429400" cy="3810000"/>
            <a:chOff x="0" y="0"/>
            <a:chExt cx="5429400" cy="3810000"/>
          </a:xfrm>
        </p:grpSpPr>
        <p:sp>
          <p:nvSpPr>
            <p:cNvPr id="151" name="Google Shape;151;p8"/>
            <p:cNvSpPr/>
            <p:nvPr/>
          </p:nvSpPr>
          <p:spPr>
            <a:xfrm>
              <a:off x="0" y="0"/>
              <a:ext cx="5429400" cy="3810000"/>
            </a:xfrm>
            <a:prstGeom prst="roundRect">
              <a:avLst>
                <a:gd fmla="val 2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8"/>
            <p:cNvSpPr txBox="1"/>
            <p:nvPr/>
          </p:nvSpPr>
          <p:spPr>
            <a:xfrm>
              <a:off x="190500" y="142875"/>
              <a:ext cx="5048400" cy="35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rPr>
                <a:t>Current Evidence </a:t>
              </a:r>
              <a:r>
                <a:rPr b="1" lang="en-US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CLASSICAL CURRENTLY LEADS</a:t>
              </a:r>
              <a:endParaRPr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"Under the tested protocol, classical baselines outperform the evaluated quantum configurations."</a:t>
              </a:r>
              <a:endParaRPr b="1" sz="11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Arial"/>
                <a:buChar char="●"/>
              </a:pPr>
              <a:r>
                <a:rPr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Quantum is not automatically justified.</a:t>
              </a:r>
              <a:endParaRPr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Arial"/>
                <a:buChar char="●"/>
              </a:pPr>
              <a:r>
                <a:rPr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Quantum simulation has substantial cost.</a:t>
              </a:r>
              <a:endParaRPr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Arial"/>
                <a:buChar char="●"/>
              </a:pPr>
              <a:r>
                <a:rPr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Pathway selection should be evidence-driven.</a:t>
              </a:r>
              <a:endParaRPr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475569"/>
                </a:solidFill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991B1B"/>
                  </a:solidFill>
                  <a:latin typeface="Arial"/>
                  <a:ea typeface="Arial"/>
                  <a:cs typeface="Arial"/>
                  <a:sym typeface="Arial"/>
                </a:rPr>
                <a:t>Key Challenges &amp; Limitations</a:t>
              </a:r>
              <a:endParaRPr b="1" sz="1150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50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1. HIGH-DIMENSIONAL DATA:</a:t>
              </a:r>
              <a:r>
                <a:rPr lang="en-US" sz="10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0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Qubit-limited representation.</a:t>
              </a:r>
              <a:endParaRPr sz="10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2. SIMULATION COST:</a:t>
              </a:r>
              <a:r>
                <a:rPr lang="en-US" sz="10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0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Circuit simulation becomes expensive.</a:t>
              </a:r>
              <a:endParaRPr sz="10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3. LIMITED COVERAGE:</a:t>
              </a:r>
              <a:r>
                <a:rPr lang="en-US" sz="10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0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Current evidence covers tested datasets/configurations.</a:t>
              </a:r>
              <a:endParaRPr sz="10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3" name="Google Shape;153;p8"/>
          <p:cNvGrpSpPr/>
          <p:nvPr/>
        </p:nvGrpSpPr>
        <p:grpSpPr>
          <a:xfrm>
            <a:off x="428550" y="5048250"/>
            <a:ext cx="11334975" cy="340100"/>
            <a:chOff x="-75" y="0"/>
            <a:chExt cx="11334975" cy="571500"/>
          </a:xfrm>
        </p:grpSpPr>
        <p:pic>
          <p:nvPicPr>
            <p:cNvPr id="154" name="Google Shape;154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11334900" cy="57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" name="Google Shape;155;p8"/>
            <p:cNvSpPr txBox="1"/>
            <p:nvPr/>
          </p:nvSpPr>
          <p:spPr>
            <a:xfrm>
              <a:off x="-75" y="190500"/>
              <a:ext cx="11334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rPr>
                <a:t>RESPONSE STRATEGY: MATCHED EVALUATION • LEAKAGE-SAFE PREPROCESSING • RUNTIME-AWARE ROUTING • BROADER VALIDATION</a:t>
              </a:r>
              <a:endParaRPr b="1" sz="10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6" name="Google Shape;156;p8"/>
          <p:cNvSpPr txBox="1"/>
          <p:nvPr/>
        </p:nvSpPr>
        <p:spPr>
          <a:xfrm>
            <a:off x="428625" y="5524500"/>
            <a:ext cx="11334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* T-103B: Encoding ablation attempted but deferred after local simulator resource exhaustion (OOM).</a:t>
            </a:r>
            <a:endParaRPr sz="8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64" name="Google Shape;164;p9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5" name="Google Shape;165;p9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66" name="Google Shape;16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1366" y="57097"/>
            <a:ext cx="2209120" cy="1121819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9"/>
          <p:cNvSpPr txBox="1"/>
          <p:nvPr/>
        </p:nvSpPr>
        <p:spPr>
          <a:xfrm>
            <a:off x="428625" y="1143000"/>
            <a:ext cx="11334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HYBRID QML PLATFORM TARGETS</a:t>
            </a:r>
            <a:endParaRPr b="0" sz="14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8" name="Google Shape;168;p9"/>
          <p:cNvGrpSpPr/>
          <p:nvPr/>
        </p:nvGrpSpPr>
        <p:grpSpPr>
          <a:xfrm>
            <a:off x="428625" y="1524000"/>
            <a:ext cx="11334900" cy="1238400"/>
            <a:chOff x="428625" y="1524000"/>
            <a:chExt cx="11334900" cy="1238400"/>
          </a:xfrm>
        </p:grpSpPr>
        <p:sp>
          <p:nvSpPr>
            <p:cNvPr id="169" name="Google Shape;169;p9"/>
            <p:cNvSpPr/>
            <p:nvPr/>
          </p:nvSpPr>
          <p:spPr>
            <a:xfrm>
              <a:off x="428625" y="1524000"/>
              <a:ext cx="3524400" cy="1238400"/>
            </a:xfrm>
            <a:prstGeom prst="roundRect">
              <a:avLst>
                <a:gd fmla="val 923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9"/>
            <p:cNvSpPr txBox="1"/>
            <p:nvPr/>
          </p:nvSpPr>
          <p:spPr>
            <a:xfrm>
              <a:off x="428625" y="1524000"/>
              <a:ext cx="3524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1E3A8A"/>
                  </a:solidFill>
                  <a:latin typeface="Arial"/>
                  <a:ea typeface="Arial"/>
                  <a:cs typeface="Arial"/>
                  <a:sym typeface="Arial"/>
                </a:rPr>
                <a:t>BIOMEDICAL ML RESEARCHERS</a:t>
              </a:r>
              <a:endParaRPr b="0" sz="12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Controlled classical-vs-quantum evaluation on biomedical datasets.</a:t>
              </a:r>
              <a:endParaRPr b="0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9"/>
            <p:cNvSpPr/>
            <p:nvPr/>
          </p:nvSpPr>
          <p:spPr>
            <a:xfrm>
              <a:off x="4333875" y="1524000"/>
              <a:ext cx="3524400" cy="1238400"/>
            </a:xfrm>
            <a:prstGeom prst="roundRect">
              <a:avLst>
                <a:gd fmla="val 923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9"/>
            <p:cNvSpPr txBox="1"/>
            <p:nvPr/>
          </p:nvSpPr>
          <p:spPr>
            <a:xfrm>
              <a:off x="4333875" y="1524000"/>
              <a:ext cx="3524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1E3A8A"/>
                  </a:solidFill>
                  <a:latin typeface="Arial"/>
                  <a:ea typeface="Arial"/>
                  <a:cs typeface="Arial"/>
                  <a:sym typeface="Arial"/>
                </a:rPr>
                <a:t>QML RESEARCHERS</a:t>
              </a:r>
              <a:endParaRPr b="0" sz="12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Compare quantum pathways against strong classical references.</a:t>
              </a:r>
              <a:endParaRPr b="0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9"/>
            <p:cNvSpPr/>
            <p:nvPr/>
          </p:nvSpPr>
          <p:spPr>
            <a:xfrm>
              <a:off x="8239125" y="1524000"/>
              <a:ext cx="3524400" cy="1238400"/>
            </a:xfrm>
            <a:prstGeom prst="roundRect">
              <a:avLst>
                <a:gd fmla="val 923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9"/>
            <p:cNvSpPr txBox="1"/>
            <p:nvPr/>
          </p:nvSpPr>
          <p:spPr>
            <a:xfrm>
              <a:off x="8239125" y="1524000"/>
              <a:ext cx="3524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1E3A8A"/>
                  </a:solidFill>
                  <a:latin typeface="Arial"/>
                  <a:ea typeface="Arial"/>
                  <a:cs typeface="Arial"/>
                  <a:sym typeface="Arial"/>
                </a:rPr>
                <a:t>HEALTHCARE AI TEAMS</a:t>
              </a:r>
              <a:endParaRPr b="0" sz="12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Evaluate predictive and computational trade-offs before deployment.</a:t>
              </a:r>
              <a:endParaRPr b="0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5" name="Google Shape;175;p9"/>
          <p:cNvGrpSpPr/>
          <p:nvPr/>
        </p:nvGrpSpPr>
        <p:grpSpPr>
          <a:xfrm>
            <a:off x="428625" y="2952750"/>
            <a:ext cx="11334900" cy="428700"/>
            <a:chOff x="0" y="0"/>
            <a:chExt cx="11334900" cy="428700"/>
          </a:xfrm>
        </p:grpSpPr>
        <p:sp>
          <p:nvSpPr>
            <p:cNvPr id="176" name="Google Shape;176;p9"/>
            <p:cNvSpPr/>
            <p:nvPr/>
          </p:nvSpPr>
          <p:spPr>
            <a:xfrm>
              <a:off x="0" y="0"/>
              <a:ext cx="11334900" cy="428700"/>
            </a:xfrm>
            <a:prstGeom prst="roundRect">
              <a:avLst>
                <a:gd fmla="val 17777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9"/>
            <p:cNvSpPr txBox="1"/>
            <p:nvPr/>
          </p:nvSpPr>
          <p:spPr>
            <a:xfrm>
              <a:off x="0" y="0"/>
              <a:ext cx="11334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EVIDENCE-DRIVEN MODEL SELECTION </a:t>
              </a:r>
              <a:r>
                <a:rPr b="0"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(Performance + Computational Cost + Representation Conditions)</a:t>
              </a:r>
              <a:endParaRPr b="0" sz="11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8" name="Google Shape;178;p9"/>
          <p:cNvGrpSpPr/>
          <p:nvPr/>
        </p:nvGrpSpPr>
        <p:grpSpPr>
          <a:xfrm>
            <a:off x="428625" y="3571875"/>
            <a:ext cx="11334900" cy="1047900"/>
            <a:chOff x="428625" y="3571875"/>
            <a:chExt cx="11334900" cy="1047900"/>
          </a:xfrm>
        </p:grpSpPr>
        <p:grpSp>
          <p:nvGrpSpPr>
            <p:cNvPr id="179" name="Google Shape;179;p9"/>
            <p:cNvGrpSpPr/>
            <p:nvPr/>
          </p:nvGrpSpPr>
          <p:grpSpPr>
            <a:xfrm>
              <a:off x="428625" y="3571875"/>
              <a:ext cx="3524400" cy="1047900"/>
              <a:chOff x="0" y="0"/>
              <a:chExt cx="3524400" cy="1047900"/>
            </a:xfrm>
          </p:grpSpPr>
          <p:sp>
            <p:nvSpPr>
              <p:cNvPr id="180" name="Google Shape;180;p9"/>
              <p:cNvSpPr/>
              <p:nvPr/>
            </p:nvSpPr>
            <p:spPr>
              <a:xfrm>
                <a:off x="0" y="0"/>
                <a:ext cx="57300" cy="1047900"/>
              </a:xfrm>
              <a:prstGeom prst="roundRect">
                <a:avLst>
                  <a:gd fmla="val 50000" name="adj"/>
                </a:avLst>
              </a:prstGeom>
              <a:solidFill>
                <a:srgbClr val="3B82F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9"/>
              <p:cNvSpPr txBox="1"/>
              <p:nvPr/>
            </p:nvSpPr>
            <p:spPr>
              <a:xfrm>
                <a:off x="152400" y="0"/>
                <a:ext cx="33720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200">
                    <a:solidFill>
                      <a:srgbClr val="0070C0"/>
                    </a:solidFill>
                    <a:latin typeface="Arial"/>
                    <a:ea typeface="Arial"/>
                    <a:cs typeface="Arial"/>
                    <a:sym typeface="Arial"/>
                  </a:rPr>
                  <a:t>RESEARCH</a:t>
                </a:r>
                <a:endParaRPr b="0" sz="1200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Systematic classical-vs-quantum benchmarking.</a:t>
                </a:r>
                <a:endParaRPr b="0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2" name="Google Shape;182;p9"/>
            <p:cNvGrpSpPr/>
            <p:nvPr/>
          </p:nvGrpSpPr>
          <p:grpSpPr>
            <a:xfrm>
              <a:off x="4333875" y="3571875"/>
              <a:ext cx="3524400" cy="1047900"/>
              <a:chOff x="0" y="0"/>
              <a:chExt cx="3524400" cy="1047900"/>
            </a:xfrm>
          </p:grpSpPr>
          <p:sp>
            <p:nvSpPr>
              <p:cNvPr id="183" name="Google Shape;183;p9"/>
              <p:cNvSpPr/>
              <p:nvPr/>
            </p:nvSpPr>
            <p:spPr>
              <a:xfrm>
                <a:off x="0" y="0"/>
                <a:ext cx="57300" cy="1047900"/>
              </a:xfrm>
              <a:prstGeom prst="roundRect">
                <a:avLst>
                  <a:gd fmla="val 50000" name="adj"/>
                </a:avLst>
              </a:prstGeom>
              <a:solidFill>
                <a:srgbClr val="3B82F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9"/>
              <p:cNvSpPr txBox="1"/>
              <p:nvPr/>
            </p:nvSpPr>
            <p:spPr>
              <a:xfrm>
                <a:off x="152400" y="0"/>
                <a:ext cx="33720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200">
                    <a:solidFill>
                      <a:srgbClr val="0070C0"/>
                    </a:solidFill>
                    <a:latin typeface="Arial"/>
                    <a:ea typeface="Arial"/>
                    <a:cs typeface="Arial"/>
                    <a:sym typeface="Arial"/>
                  </a:rPr>
                  <a:t>COMPUTATION</a:t>
                </a:r>
                <a:endParaRPr b="0" sz="1200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Avoid unnecessary quantum computation when current evidence does not justify it.</a:t>
                </a:r>
                <a:endParaRPr b="0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5" name="Google Shape;185;p9"/>
            <p:cNvGrpSpPr/>
            <p:nvPr/>
          </p:nvGrpSpPr>
          <p:grpSpPr>
            <a:xfrm>
              <a:off x="8239125" y="3571875"/>
              <a:ext cx="3524400" cy="1047900"/>
              <a:chOff x="0" y="0"/>
              <a:chExt cx="3524400" cy="1047900"/>
            </a:xfrm>
          </p:grpSpPr>
          <p:sp>
            <p:nvSpPr>
              <p:cNvPr id="186" name="Google Shape;186;p9"/>
              <p:cNvSpPr/>
              <p:nvPr/>
            </p:nvSpPr>
            <p:spPr>
              <a:xfrm>
                <a:off x="0" y="0"/>
                <a:ext cx="57300" cy="1047900"/>
              </a:xfrm>
              <a:prstGeom prst="roundRect">
                <a:avLst>
                  <a:gd fmla="val 50000" name="adj"/>
                </a:avLst>
              </a:prstGeom>
              <a:solidFill>
                <a:srgbClr val="3B82F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9"/>
              <p:cNvSpPr txBox="1"/>
              <p:nvPr/>
            </p:nvSpPr>
            <p:spPr>
              <a:xfrm>
                <a:off x="152400" y="0"/>
                <a:ext cx="33720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200">
                    <a:solidFill>
                      <a:srgbClr val="0070C0"/>
                    </a:solidFill>
                    <a:latin typeface="Arial"/>
                    <a:ea typeface="Arial"/>
                    <a:cs typeface="Arial"/>
                    <a:sym typeface="Arial"/>
                  </a:rPr>
                  <a:t>ENGINEERING</a:t>
                </a:r>
                <a:endParaRPr b="0" sz="1200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Modular platform that can incorporate new datasets and quantum pathways.</a:t>
                </a:r>
                <a:endParaRPr b="0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88" name="Google Shape;188;p9"/>
          <p:cNvGrpSpPr/>
          <p:nvPr/>
        </p:nvGrpSpPr>
        <p:grpSpPr>
          <a:xfrm>
            <a:off x="428625" y="4810125"/>
            <a:ext cx="11334900" cy="762000"/>
            <a:chOff x="0" y="0"/>
            <a:chExt cx="11334900" cy="762000"/>
          </a:xfrm>
        </p:grpSpPr>
        <p:sp>
          <p:nvSpPr>
            <p:cNvPr id="189" name="Google Shape;189;p9"/>
            <p:cNvSpPr/>
            <p:nvPr/>
          </p:nvSpPr>
          <p:spPr>
            <a:xfrm>
              <a:off x="0" y="0"/>
              <a:ext cx="11334900" cy="762000"/>
            </a:xfrm>
            <a:prstGeom prst="roundRect">
              <a:avLst>
                <a:gd fmla="val 1500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9"/>
            <p:cNvSpPr txBox="1"/>
            <p:nvPr/>
          </p:nvSpPr>
          <p:spPr>
            <a:xfrm>
              <a:off x="190500" y="0"/>
              <a:ext cx="1905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VALIDATION ROADMAP</a:t>
              </a:r>
              <a:endParaRPr b="0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1" name="Google Shape;191;p9"/>
            <p:cNvCxnSpPr/>
            <p:nvPr/>
          </p:nvCxnSpPr>
          <p:spPr>
            <a:xfrm>
              <a:off x="2190750" y="142875"/>
              <a:ext cx="0" cy="4764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2" name="Google Shape;192;p9"/>
            <p:cNvSpPr txBox="1"/>
            <p:nvPr/>
          </p:nvSpPr>
          <p:spPr>
            <a:xfrm>
              <a:off x="2381250" y="0"/>
              <a:ext cx="8763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16A34A"/>
                  </a:solidFill>
                  <a:latin typeface="Arial"/>
                  <a:ea typeface="Arial"/>
                  <a:cs typeface="Arial"/>
                  <a:sym typeface="Arial"/>
                </a:rPr>
                <a:t>CURRENT:</a:t>
              </a:r>
              <a:r>
                <a:rPr lang="en-US" sz="1150"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lang="en-US" sz="11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WDBC + Parkinson's</a:t>
              </a:r>
              <a:r>
                <a:rPr lang="en-US" sz="1150"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lang="en-US" sz="11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➔</a:t>
              </a:r>
              <a:r>
                <a:rPr lang="en-US" sz="1150"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lang="en-US" sz="1150">
                  <a:solidFill>
                    <a:srgbClr val="2563EB"/>
                  </a:solidFill>
                  <a:latin typeface="Arial"/>
                  <a:ea typeface="Arial"/>
                  <a:cs typeface="Arial"/>
                  <a:sym typeface="Arial"/>
                </a:rPr>
                <a:t>NEXT:</a:t>
              </a:r>
              <a:r>
                <a:rPr lang="en-US" sz="1150"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lang="en-US" sz="11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More datasets + quantum pathways</a:t>
              </a:r>
              <a:r>
                <a:rPr lang="en-US" sz="1150"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lang="en-US" sz="11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➔</a:t>
              </a:r>
              <a:r>
                <a:rPr lang="en-US" sz="1150"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lang="en-US" sz="11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FUTURE:</a:t>
              </a:r>
              <a:r>
                <a:rPr lang="en-US" sz="1150"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lang="en-US" sz="11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QPU evaluation + clinical validation</a:t>
              </a:r>
              <a:endParaRPr sz="115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Your startup LOGO" id="193" name="Google Shape;193;p9"/>
          <p:cNvSpPr/>
          <p:nvPr/>
        </p:nvSpPr>
        <p:spPr>
          <a:xfrm>
            <a:off x="329773" y="252246"/>
            <a:ext cx="1251900" cy="8073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8064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625" lIns="47625" spcFirstLastPara="1" rIns="47625" wrap="square" tIns="47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Chai.EXE</a:t>
            </a:r>
            <a:endParaRPr b="1"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"/>
          <p:cNvSpPr/>
          <p:nvPr/>
        </p:nvSpPr>
        <p:spPr>
          <a:xfrm>
            <a:off x="0" y="6354766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0" name="Google Shape;20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" y="1595438"/>
            <a:ext cx="28500" cy="3543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0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02" name="Google Shape;202;p10"/>
          <p:cNvSpPr txBox="1"/>
          <p:nvPr>
            <p:ph type="title"/>
          </p:nvPr>
        </p:nvSpPr>
        <p:spPr>
          <a:xfrm>
            <a:off x="609600" y="95250"/>
            <a:ext cx="109728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EVOLUTION &amp; REFERENCES</a:t>
            </a:r>
            <a:endParaRPr b="1" sz="2400">
              <a:solidFill>
                <a:srgbClr val="0F172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225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SIH 26139: Hybrid Quantum Machine Learning Platform for Early Disease Detection</a:t>
            </a:r>
            <a:endParaRPr b="0" sz="1100">
              <a:solidFill>
                <a:srgbClr val="47556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03" name="Google Shape;203;p10"/>
          <p:cNvSpPr txBox="1"/>
          <p:nvPr>
            <p:ph idx="11" type="ftr"/>
          </p:nvPr>
        </p:nvSpPr>
        <p:spPr>
          <a:xfrm>
            <a:off x="4493895" y="6424613"/>
            <a:ext cx="3204000" cy="365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sz="11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204" name="Google Shape;204;p10"/>
          <p:cNvSpPr/>
          <p:nvPr/>
        </p:nvSpPr>
        <p:spPr>
          <a:xfrm>
            <a:off x="333375" y="142875"/>
            <a:ext cx="952500" cy="571500"/>
          </a:xfrm>
          <a:prstGeom prst="ellipse">
            <a:avLst/>
          </a:prstGeom>
          <a:solidFill>
            <a:srgbClr val="FFFFFF"/>
          </a:solidFill>
          <a:ln cap="flat" cmpd="sng" w="14300">
            <a:solidFill>
              <a:srgbClr val="8064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Chai.EXE</a:t>
            </a:r>
            <a:endParaRPr b="1"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4953000" y="1238250"/>
            <a:ext cx="4095900" cy="3048000"/>
          </a:xfrm>
          <a:prstGeom prst="roundRect">
            <a:avLst>
              <a:gd fmla="val 25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"/>
          <p:cNvSpPr/>
          <p:nvPr/>
        </p:nvSpPr>
        <p:spPr>
          <a:xfrm>
            <a:off x="4953000" y="4476750"/>
            <a:ext cx="4095900" cy="1524000"/>
          </a:xfrm>
          <a:prstGeom prst="roundRect">
            <a:avLst>
              <a:gd fmla="val 50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9334500" y="1238250"/>
            <a:ext cx="2381400" cy="47625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43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"/>
          <p:cNvSpPr/>
          <p:nvPr/>
        </p:nvSpPr>
        <p:spPr>
          <a:xfrm>
            <a:off x="9763125" y="1524000"/>
            <a:ext cx="1524000" cy="1524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"/>
          <p:cNvSpPr txBox="1"/>
          <p:nvPr/>
        </p:nvSpPr>
        <p:spPr>
          <a:xfrm>
            <a:off x="4953000" y="1238250"/>
            <a:ext cx="40959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0" lIns="190500" spcFirstLastPara="1" rIns="190500" wrap="square" tIns="190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Research Foundation</a:t>
            </a:r>
            <a:endParaRPr b="0" sz="14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Havlíček et al., 2019 | Nature</a:t>
            </a:r>
            <a:endParaRPr b="1" sz="95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Quantum-enhanced feature spaces and kernel methods.</a:t>
            </a:r>
            <a:endParaRPr sz="85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Schuld &amp; Killoran, 2019 | Phys. Rev. Lett.</a:t>
            </a:r>
            <a:endParaRPr b="1" sz="95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Quantum feature Hilbert spaces.</a:t>
            </a:r>
            <a:endParaRPr sz="85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Cerezo et al., 2021 | Nature Reviews Physics</a:t>
            </a:r>
            <a:endParaRPr b="1" sz="95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Variational quantum algorithms.</a:t>
            </a:r>
            <a:endParaRPr sz="85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Gupta et al., 2025 | npj Digital Medicine</a:t>
            </a:r>
            <a:endParaRPr b="1" sz="95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Quantum machine learning in digital health.</a:t>
            </a:r>
            <a:endParaRPr sz="85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0" name="Google Shape;210;p10"/>
          <p:cNvSpPr txBox="1"/>
          <p:nvPr/>
        </p:nvSpPr>
        <p:spPr>
          <a:xfrm>
            <a:off x="4953000" y="4476750"/>
            <a:ext cx="40959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2875" lIns="190500" spcFirstLastPara="1" rIns="190500" wrap="square" tIns="14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Dataset References</a:t>
            </a:r>
            <a:endParaRPr sz="12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WDBC:</a:t>
            </a:r>
            <a:r>
              <a:rPr lang="en-US" sz="900"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UCI Wisconsin Diagnostic Breast Cancer (569 samples, 30 features)</a:t>
            </a:r>
            <a:endParaRPr sz="9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b="1" lang="en-US" sz="9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Parkinson's:</a:t>
            </a:r>
            <a:r>
              <a:rPr lang="en-US" sz="900"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OpenML 42176 (756 samples, 753 features)</a:t>
            </a:r>
            <a:endParaRPr sz="9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1" name="Google Shape;211;p10"/>
          <p:cNvSpPr txBox="1"/>
          <p:nvPr/>
        </p:nvSpPr>
        <p:spPr>
          <a:xfrm>
            <a:off x="9429750" y="3143250"/>
            <a:ext cx="21909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Project Code</a:t>
            </a:r>
            <a:endParaRPr b="0" sz="12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ctr"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Scan to view full experimental artifacts and architecture.</a:t>
            </a:r>
            <a:endParaRPr sz="85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E3A8A"/>
                </a:solidFill>
                <a:highlight>
                  <a:srgbClr val="EFF6FF"/>
                </a:highlight>
                <a:latin typeface="Inter"/>
                <a:ea typeface="Inter"/>
                <a:cs typeface="Inter"/>
                <a:sym typeface="Inter"/>
              </a:rPr>
              <a:t>Source Code</a:t>
            </a:r>
            <a:endParaRPr b="1" sz="900">
              <a:solidFill>
                <a:srgbClr val="1E3A8A"/>
              </a:solidFill>
              <a:highlight>
                <a:srgbClr val="EFF6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E3A8A"/>
                </a:solidFill>
                <a:highlight>
                  <a:srgbClr val="EFF6FF"/>
                </a:highlight>
                <a:latin typeface="Inter"/>
                <a:ea typeface="Inter"/>
                <a:cs typeface="Inter"/>
                <a:sym typeface="Inter"/>
              </a:rPr>
              <a:t>Experiments</a:t>
            </a:r>
            <a:endParaRPr b="1" sz="900">
              <a:solidFill>
                <a:srgbClr val="1E3A8A"/>
              </a:solidFill>
              <a:highlight>
                <a:srgbClr val="EFF6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E3A8A"/>
                </a:solidFill>
                <a:highlight>
                  <a:srgbClr val="EFF6FF"/>
                </a:highlight>
                <a:latin typeface="Inter"/>
                <a:ea typeface="Inter"/>
                <a:cs typeface="Inter"/>
                <a:sym typeface="Inter"/>
              </a:rPr>
              <a:t>Documentation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12" name="Google Shape;21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58375" y="1619250"/>
            <a:ext cx="1333500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0"/>
          <p:cNvPicPr preferRelativeResize="0"/>
          <p:nvPr/>
        </p:nvPicPr>
        <p:blipFill rotWithShape="1">
          <a:blip r:embed="rId6">
            <a:alphaModFix/>
          </a:blip>
          <a:srcRect b="40" l="0" r="0" t="50"/>
          <a:stretch/>
        </p:blipFill>
        <p:spPr>
          <a:xfrm>
            <a:off x="9841325" y="57097"/>
            <a:ext cx="2209200" cy="1121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4" name="Google Shape;214;p10"/>
          <p:cNvGrpSpPr/>
          <p:nvPr/>
        </p:nvGrpSpPr>
        <p:grpSpPr>
          <a:xfrm>
            <a:off x="376238" y="1238250"/>
            <a:ext cx="4243388" cy="714300"/>
            <a:chOff x="-52387" y="0"/>
            <a:chExt cx="4243388" cy="714300"/>
          </a:xfrm>
        </p:grpSpPr>
        <p:sp>
          <p:nvSpPr>
            <p:cNvPr id="215" name="Google Shape;215;p10"/>
            <p:cNvSpPr/>
            <p:nvPr/>
          </p:nvSpPr>
          <p:spPr>
            <a:xfrm>
              <a:off x="-52387" y="280988"/>
              <a:ext cx="152400" cy="152400"/>
            </a:xfrm>
            <a:prstGeom prst="roundRect">
              <a:avLst>
                <a:gd fmla="val 50000" name="adj"/>
              </a:avLst>
            </a:prstGeom>
            <a:solidFill>
              <a:srgbClr val="16A34A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0"/>
            <p:cNvSpPr txBox="1"/>
            <p:nvPr/>
          </p:nvSpPr>
          <p:spPr>
            <a:xfrm>
              <a:off x="228600" y="0"/>
              <a:ext cx="3962400" cy="714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5803D"/>
                  </a:solidFill>
                  <a:latin typeface="Inter"/>
                  <a:ea typeface="Inter"/>
                  <a:cs typeface="Inter"/>
                  <a:sym typeface="Inter"/>
                </a:rPr>
                <a:t>T-060: Synthetic Complexity</a:t>
              </a:r>
              <a:endParaRPr b="1" sz="1100">
                <a:solidFill>
                  <a:srgbClr val="15803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Investigated dataset-dependent quantum suitability through controlled experiments.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7" name="Google Shape;217;p10"/>
          <p:cNvGrpSpPr/>
          <p:nvPr/>
        </p:nvGrpSpPr>
        <p:grpSpPr>
          <a:xfrm>
            <a:off x="376238" y="2190750"/>
            <a:ext cx="4243388" cy="714300"/>
            <a:chOff x="-52387" y="0"/>
            <a:chExt cx="4243388" cy="714300"/>
          </a:xfrm>
        </p:grpSpPr>
        <p:sp>
          <p:nvSpPr>
            <p:cNvPr id="218" name="Google Shape;218;p10"/>
            <p:cNvSpPr/>
            <p:nvPr/>
          </p:nvSpPr>
          <p:spPr>
            <a:xfrm>
              <a:off x="-52387" y="280988"/>
              <a:ext cx="152400" cy="152400"/>
            </a:xfrm>
            <a:prstGeom prst="roundRect">
              <a:avLst>
                <a:gd fmla="val 50000" name="adj"/>
              </a:avLst>
            </a:prstGeom>
            <a:solidFill>
              <a:srgbClr val="16A34A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0"/>
            <p:cNvSpPr txBox="1"/>
            <p:nvPr/>
          </p:nvSpPr>
          <p:spPr>
            <a:xfrm>
              <a:off x="228600" y="0"/>
              <a:ext cx="3962400" cy="714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5803D"/>
                  </a:solidFill>
                  <a:latin typeface="Inter"/>
                  <a:ea typeface="Inter"/>
                  <a:cs typeface="Inter"/>
                  <a:sym typeface="Inter"/>
                </a:rPr>
                <a:t>T-061: Biomedical Validation</a:t>
              </a:r>
              <a:endParaRPr b="1" sz="1100">
                <a:solidFill>
                  <a:srgbClr val="15803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Conducted evaluations using real disease-classification profiles on WDBC and Parkinson’s datasets.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0" name="Google Shape;220;p10"/>
          <p:cNvGrpSpPr/>
          <p:nvPr/>
        </p:nvGrpSpPr>
        <p:grpSpPr>
          <a:xfrm>
            <a:off x="376238" y="3143250"/>
            <a:ext cx="4243388" cy="714300"/>
            <a:chOff x="-52387" y="0"/>
            <a:chExt cx="4243388" cy="714300"/>
          </a:xfrm>
        </p:grpSpPr>
        <p:sp>
          <p:nvSpPr>
            <p:cNvPr id="221" name="Google Shape;221;p10"/>
            <p:cNvSpPr/>
            <p:nvPr/>
          </p:nvSpPr>
          <p:spPr>
            <a:xfrm>
              <a:off x="-52387" y="280988"/>
              <a:ext cx="152400" cy="152400"/>
            </a:xfrm>
            <a:prstGeom prst="roundRect">
              <a:avLst>
                <a:gd fmla="val 50000" name="adj"/>
              </a:avLst>
            </a:prstGeom>
            <a:solidFill>
              <a:srgbClr val="16A34A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0"/>
            <p:cNvSpPr txBox="1"/>
            <p:nvPr/>
          </p:nvSpPr>
          <p:spPr>
            <a:xfrm>
              <a:off x="228600" y="0"/>
              <a:ext cx="3962400" cy="714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5803D"/>
                  </a:solidFill>
                  <a:latin typeface="Inter"/>
                  <a:ea typeface="Inter"/>
                  <a:cs typeface="Inter"/>
                  <a:sym typeface="Inter"/>
                </a:rPr>
                <a:t>T-103: Quantum Shootout (Key Evidence)</a:t>
              </a:r>
              <a:endParaRPr b="1" sz="1100">
                <a:solidFill>
                  <a:srgbClr val="15803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Demonstrated that quantum pathways did not justify the additional simulator costs under the current protocol.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3" name="Google Shape;223;p10"/>
          <p:cNvGrpSpPr/>
          <p:nvPr/>
        </p:nvGrpSpPr>
        <p:grpSpPr>
          <a:xfrm>
            <a:off x="376238" y="4095750"/>
            <a:ext cx="4243388" cy="714300"/>
            <a:chOff x="-52387" y="0"/>
            <a:chExt cx="4243388" cy="714300"/>
          </a:xfrm>
        </p:grpSpPr>
        <p:sp>
          <p:nvSpPr>
            <p:cNvPr id="224" name="Google Shape;224;p10"/>
            <p:cNvSpPr/>
            <p:nvPr/>
          </p:nvSpPr>
          <p:spPr>
            <a:xfrm>
              <a:off x="-52387" y="280988"/>
              <a:ext cx="152400" cy="152400"/>
            </a:xfrm>
            <a:prstGeom prst="roundRect">
              <a:avLst>
                <a:gd fmla="val 50000" name="adj"/>
              </a:avLst>
            </a:prstGeom>
            <a:solidFill>
              <a:srgbClr val="94A3B8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0"/>
            <p:cNvSpPr txBox="1"/>
            <p:nvPr/>
          </p:nvSpPr>
          <p:spPr>
            <a:xfrm>
              <a:off x="228600" y="0"/>
              <a:ext cx="3962400" cy="714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T-103B: Encoding Ablation (Deferred)</a:t>
              </a:r>
              <a:endParaRPr b="1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Reached hard system limits, triggering an "Out of Memory" (OOM) error in the simulator.</a:t>
              </a:r>
              <a:endParaRPr b="0"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6" name="Google Shape;226;p10"/>
          <p:cNvGrpSpPr/>
          <p:nvPr/>
        </p:nvGrpSpPr>
        <p:grpSpPr>
          <a:xfrm>
            <a:off x="376238" y="5048250"/>
            <a:ext cx="4243388" cy="714300"/>
            <a:chOff x="-52387" y="0"/>
            <a:chExt cx="4243388" cy="714300"/>
          </a:xfrm>
        </p:grpSpPr>
        <p:sp>
          <p:nvSpPr>
            <p:cNvPr id="227" name="Google Shape;227;p10"/>
            <p:cNvSpPr/>
            <p:nvPr/>
          </p:nvSpPr>
          <p:spPr>
            <a:xfrm>
              <a:off x="-52387" y="280988"/>
              <a:ext cx="152400" cy="1524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0"/>
            <p:cNvSpPr txBox="1"/>
            <p:nvPr/>
          </p:nvSpPr>
          <p:spPr>
            <a:xfrm>
              <a:off x="228600" y="0"/>
              <a:ext cx="3962400" cy="714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59669"/>
                  </a:solidFill>
                  <a:latin typeface="Inter"/>
                  <a:ea typeface="Inter"/>
                  <a:cs typeface="Inter"/>
                  <a:sym typeface="Inter"/>
                </a:rPr>
                <a:t>T-062: Evidence-Gated Routing (Prototype)</a:t>
              </a:r>
              <a:endParaRPr b="1" sz="1100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Developed an initial prototype that dynamically selects pathways based on computed metrics derived from current benchmark evidence.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